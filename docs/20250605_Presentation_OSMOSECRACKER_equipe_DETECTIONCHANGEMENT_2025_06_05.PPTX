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25"/>
  </p:notesMasterIdLst>
  <p:sldIdLst>
    <p:sldId id="326" r:id="rId2"/>
    <p:sldId id="331" r:id="rId3"/>
    <p:sldId id="327" r:id="rId4"/>
    <p:sldId id="328" r:id="rId5"/>
    <p:sldId id="351" r:id="rId6"/>
    <p:sldId id="373" r:id="rId7"/>
    <p:sldId id="353" r:id="rId8"/>
    <p:sldId id="370" r:id="rId9"/>
    <p:sldId id="356" r:id="rId10"/>
    <p:sldId id="369" r:id="rId11"/>
    <p:sldId id="357" r:id="rId12"/>
    <p:sldId id="361" r:id="rId13"/>
    <p:sldId id="372" r:id="rId14"/>
    <p:sldId id="364" r:id="rId15"/>
    <p:sldId id="365" r:id="rId16"/>
    <p:sldId id="350" r:id="rId17"/>
    <p:sldId id="368" r:id="rId18"/>
    <p:sldId id="371" r:id="rId19"/>
    <p:sldId id="319" r:id="rId20"/>
    <p:sldId id="323" r:id="rId21"/>
    <p:sldId id="338" r:id="rId22"/>
    <p:sldId id="324" r:id="rId23"/>
    <p:sldId id="332" r:id="rId24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ÉRATEURS" id="{0B896E98-F45E-4768-8620-EDDF394BE181}">
          <p14:sldIdLst>
            <p14:sldId id="326"/>
            <p14:sldId id="331"/>
            <p14:sldId id="327"/>
            <p14:sldId id="328"/>
            <p14:sldId id="351"/>
            <p14:sldId id="373"/>
            <p14:sldId id="353"/>
            <p14:sldId id="370"/>
            <p14:sldId id="356"/>
            <p14:sldId id="369"/>
            <p14:sldId id="357"/>
            <p14:sldId id="361"/>
            <p14:sldId id="372"/>
            <p14:sldId id="364"/>
            <p14:sldId id="365"/>
            <p14:sldId id="350"/>
            <p14:sldId id="368"/>
            <p14:sldId id="371"/>
          </p14:sldIdLst>
        </p14:section>
        <p14:section name="MÉTHODOLOGIE" id="{EB03BDE6-D677-4574-A7BF-9721F91BDEB8}">
          <p14:sldIdLst>
            <p14:sldId id="319"/>
            <p14:sldId id="323"/>
            <p14:sldId id="338"/>
            <p14:sldId id="324"/>
            <p14:sldId id="3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19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briel Bregand" initials="GB" lastIdx="7" clrIdx="0">
    <p:extLst>
      <p:ext uri="{19B8F6BF-5375-455C-9EA6-DF929625EA0E}">
        <p15:presenceInfo xmlns:p15="http://schemas.microsoft.com/office/powerpoint/2012/main" userId="S::Gabriel.Bregand@ign.fr::c64404ef-6a4f-4517-bdc0-349223ec2f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5841"/>
    <a:srgbClr val="00C459"/>
    <a:srgbClr val="008E40"/>
    <a:srgbClr val="8C2237"/>
    <a:srgbClr val="33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133" d="100"/>
          <a:sy n="133" d="100"/>
        </p:scale>
        <p:origin x="96" y="360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4-22T14:42:18.950" idx="3">
    <p:pos x="3880" y="1542"/>
    <p:text>200 000 Non résolut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4-22T14:42:18.950" idx="1">
    <p:pos x="3857" y="1505"/>
    <p:text>200 000 Non résolut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6-05T14:50:00.178" idx="6">
    <p:pos x="10" y="10"/>
    <p:text>https://gitlab.ign.fr/bduni_prod/autres-projets/osmosecracker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6-05T14:50:34.367" idx="7">
    <p:pos x="10" y="10"/>
    <p:text>https://pomme.ign.fr/SV3D/Documentation-BDUni-v2/troncon_de_route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4-25T10:17:08.692" idx="4">
    <p:pos x="273" y="2650"/>
    <p:text>Ce projet pose les bases d’une réflexion plus large :
Peut-on et doit-on établir des passerelles entre une base participative comme OSM et une base institutionnelle comme celle de l’IGN ?</p:text>
    <p:extLst>
      <p:ext uri="{C676402C-5697-4E1C-873F-D02D1690AC5C}">
        <p15:threadingInfo xmlns:p15="http://schemas.microsoft.com/office/powerpoint/2012/main" timeZoneBias="-120"/>
      </p:ext>
    </p:extLst>
  </p:cm>
  <p:cm authorId="1" dt="2025-04-25T10:20:06.998" idx="5">
    <p:pos x="273" y="2786"/>
    <p:text>(j'ai pas voulu m'avancer sur un conclusion mais c'est en effet une reflexion importante en + des collaboration avec des proffessionnelle des contribution citoyenne peuvent aporter un grand nombre d'information 'plus rappudement' pour certain sujet comme [j'ai vu des contribution cytoienne sur les degat des incendit au us et c'est sur que ça peut etre bien plus rappidement fait sur des situation 'urgente')</p:text>
    <p:extLst>
      <p:ext uri="{C676402C-5697-4E1C-873F-D02D1690AC5C}">
        <p15:threadingInfo xmlns:p15="http://schemas.microsoft.com/office/powerpoint/2012/main" timeZoneBias="-120">
          <p15:parentCm authorId="1" idx="4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04/06/2025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13/05/2025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20000" y="3919897"/>
            <a:ext cx="3240000" cy="900000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0000" y="360000"/>
            <a:ext cx="2700000" cy="2700000"/>
          </a:xfrm>
          <a:prstGeom prst="rect">
            <a:avLst/>
          </a:prstGeom>
        </p:spPr>
      </p:pic>
      <p:pic>
        <p:nvPicPr>
          <p:cNvPr id="69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864" y="476294"/>
            <a:ext cx="2736304" cy="1242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2346046"/>
            <a:ext cx="8424000" cy="20772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0000" y="180000"/>
            <a:ext cx="1440000" cy="1440000"/>
          </a:xfrm>
          <a:prstGeom prst="rect">
            <a:avLst/>
          </a:prstGeom>
        </p:spPr>
      </p:pic>
      <p:pic>
        <p:nvPicPr>
          <p:cNvPr id="72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771" y="279858"/>
            <a:ext cx="2736304" cy="1242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1891968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12000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63999" y="1893600"/>
            <a:ext cx="2520000" cy="2530800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/>
              <a:t>Titre de la partie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738000"/>
            <a:ext cx="9144000" cy="44064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/>
              <a:t>Sélectionner l’icône pour insérer une image, </a:t>
            </a:r>
            <a:br>
              <a:rPr lang="fr-FR" dirty="0"/>
            </a:br>
            <a:r>
              <a:rPr lang="fr-FR" dirty="0"/>
              <a:t>puis disposer l’image en arrière plan </a:t>
            </a:r>
            <a:br>
              <a:rPr lang="fr-FR" dirty="0"/>
            </a:br>
            <a:r>
              <a:rPr lang="fr-FR" dirty="0"/>
              <a:t>(Sélectionner l’image avec le bouton droit de la souris / </a:t>
            </a:r>
            <a:br>
              <a:rPr lang="fr-FR" dirty="0"/>
            </a:br>
            <a:r>
              <a:rPr lang="fr-FR" dirty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738000"/>
            <a:ext cx="8424000" cy="40464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9999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12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64000" y="1836000"/>
            <a:ext cx="2520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359998" y="1836000"/>
            <a:ext cx="8424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59999" y="900000"/>
            <a:ext cx="8424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9999" y="1836000"/>
            <a:ext cx="8424000" cy="257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4783500"/>
            <a:ext cx="117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60000" y="47835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4783500"/>
            <a:ext cx="135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360000" y="4784400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8000" y="108000"/>
            <a:ext cx="540000" cy="54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13" y="203140"/>
            <a:ext cx="1307481" cy="30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0" r:id="rId3"/>
    <p:sldLayoutId id="2147483811" r:id="rId4"/>
    <p:sldLayoutId id="2147483809" r:id="rId5"/>
    <p:sldLayoutId id="2147483798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comments" Target="../comments/commen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comments" Target="../comments/commen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comments" Target="../comments/commen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comments" Target="../comments/comment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iki.openstreetmap.org/wiki/FR:Osmose" TargetMode="External"/><Relationship Id="rId3" Type="http://schemas.openxmlformats.org/officeDocument/2006/relationships/hyperlink" Target="https://fr.m.wikipedia.org/wiki/Fichier:Openstreetmap_logo.svg" TargetMode="External"/><Relationship Id="rId7" Type="http://schemas.openxmlformats.org/officeDocument/2006/relationships/hyperlink" Target="https://wiki.openstreetmap.org/wiki/FR:Page_principale" TargetMode="External"/><Relationship Id="rId2" Type="http://schemas.openxmlformats.org/officeDocument/2006/relationships/hyperlink" Target="https://osmose.openstreetmap.fr/fr/map/#zoom=18&amp;lat=45.754633&amp;lon=4.85329&amp;item=xxxx&amp;level=1%2C2%2C3&amp;tags=&amp;fixable=&amp;class=&amp;sour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lab.ign.fr/bduni_prod/autres-projets/osmosecracker" TargetMode="External"/><Relationship Id="rId5" Type="http://schemas.openxmlformats.org/officeDocument/2006/relationships/hyperlink" Target="https://www.openstreetmap.fr/une-nouvelle-convention-pour-un-partenariat-avec-lign/" TargetMode="External"/><Relationship Id="rId10" Type="http://schemas.openxmlformats.org/officeDocument/2006/relationships/hyperlink" Target="https://openstreetmap.us/news/2024/12/pdmap-update/" TargetMode="External"/><Relationship Id="rId4" Type="http://schemas.openxmlformats.org/officeDocument/2006/relationships/hyperlink" Target="https://www.flaticon.com/fr/icone-gratuite/base-de-donnees_149749" TargetMode="External"/><Relationship Id="rId9" Type="http://schemas.openxmlformats.org/officeDocument/2006/relationships/hyperlink" Target="https://fr.depositphotos.com/stock-photos/petit-bonhomme-blanc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13/05/2025</a:t>
            </a:r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140CD-8AED-46FF-A9A2-77308F3F39AE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429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err="1"/>
              <a:t>OSMOSECRacker</a:t>
            </a:r>
            <a:endParaRPr lang="fr-FR" dirty="0"/>
          </a:p>
          <a:p>
            <a:pPr lvl="1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13/05/2025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151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C’est quoi OSMOSECRAKER ?</a:t>
            </a:r>
          </a:p>
          <a:p>
            <a:pPr lvl="1"/>
            <a:r>
              <a:rPr lang="fr-FR" dirty="0"/>
              <a:t>C’est quoi OSM et OSMOSE ?</a:t>
            </a:r>
          </a:p>
          <a:p>
            <a:pPr lvl="1"/>
            <a:r>
              <a:rPr lang="fr-FR" dirty="0"/>
              <a:t>Le Projet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Font typeface="+mj-lt"/>
              <a:buAutoNum type="arabicPeriod" startAt="2"/>
            </a:pPr>
            <a:r>
              <a:rPr lang="fr-FR" dirty="0"/>
              <a:t>Production</a:t>
            </a:r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lvl="1"/>
            <a:r>
              <a:rPr lang="fr-FR" dirty="0"/>
              <a:t>Signalement </a:t>
            </a:r>
          </a:p>
          <a:p>
            <a:pPr lvl="1"/>
            <a:r>
              <a:rPr lang="fr-FR" dirty="0"/>
              <a:t>Rapport et Code</a:t>
            </a: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3. Résultat </a:t>
            </a:r>
          </a:p>
          <a:p>
            <a:pPr lvl="1"/>
            <a:r>
              <a:rPr lang="fr-FR" dirty="0"/>
              <a:t>Signalement </a:t>
            </a:r>
          </a:p>
          <a:p>
            <a:pPr lvl="1"/>
            <a:r>
              <a:rPr lang="fr-FR" dirty="0"/>
              <a:t>Limite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2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275785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84"/>
          <a:stretch/>
        </p:blipFill>
        <p:spPr>
          <a:xfrm>
            <a:off x="0" y="699542"/>
            <a:ext cx="9144000" cy="4053433"/>
          </a:xfrm>
        </p:spPr>
      </p:pic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C’est quoi OSMOSE CRAKER ?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8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110945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a. C’est quoi OSM et OSMOSE ?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2" name="Espace réservé du texte 8"/>
          <p:cNvSpPr txBox="1">
            <a:spLocks/>
          </p:cNvSpPr>
          <p:nvPr/>
        </p:nvSpPr>
        <p:spPr bwMode="gray">
          <a:xfrm>
            <a:off x="323528" y="2508126"/>
            <a:ext cx="2520000" cy="519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07975" y="1439407"/>
            <a:ext cx="792088" cy="412263"/>
          </a:xfrm>
        </p:spPr>
        <p:txBody>
          <a:bodyPr/>
          <a:lstStyle/>
          <a:p>
            <a:r>
              <a:rPr lang="fr-FR" sz="2000" dirty="0"/>
              <a:t>OSM</a:t>
            </a:r>
          </a:p>
        </p:txBody>
      </p:sp>
      <p:sp>
        <p:nvSpPr>
          <p:cNvPr id="16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851920" y="1391850"/>
            <a:ext cx="1224136" cy="426309"/>
          </a:xfrm>
        </p:spPr>
        <p:txBody>
          <a:bodyPr anchor="ctr"/>
          <a:lstStyle/>
          <a:p>
            <a:pPr algn="ctr"/>
            <a:r>
              <a:rPr lang="fr-FR" sz="2000" dirty="0"/>
              <a:t>OSMOSE</a:t>
            </a:r>
          </a:p>
        </p:txBody>
      </p:sp>
      <p:pic>
        <p:nvPicPr>
          <p:cNvPr id="19" name="Picture 4" descr="Fichier:Openstreetmap 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411510"/>
            <a:ext cx="1440160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ce réservé du texte 13"/>
          <p:cNvSpPr>
            <a:spLocks noGrp="1"/>
          </p:cNvSpPr>
          <p:nvPr>
            <p:ph type="body" sz="quarter" idx="14"/>
          </p:nvPr>
        </p:nvSpPr>
        <p:spPr>
          <a:xfrm>
            <a:off x="323808" y="1869957"/>
            <a:ext cx="2375984" cy="2681871"/>
          </a:xfrm>
        </p:spPr>
        <p:txBody>
          <a:bodyPr/>
          <a:lstStyle/>
          <a:p>
            <a:pPr algn="just"/>
            <a:r>
              <a:rPr lang="fr-FR" dirty="0"/>
              <a:t>Projet collaboratif de cartographie libre et mondiale</a:t>
            </a:r>
          </a:p>
          <a:p>
            <a:pPr algn="just"/>
            <a:r>
              <a:rPr lang="fr-FR" dirty="0"/>
              <a:t>Utilise et promeut l’open data géographique</a:t>
            </a:r>
          </a:p>
          <a:p>
            <a:pPr algn="just"/>
            <a:endParaRPr lang="fr-FR" dirty="0">
              <a:highlight>
                <a:srgbClr val="FFFF00"/>
              </a:highlight>
            </a:endParaRPr>
          </a:p>
          <a:p>
            <a:pPr algn="just"/>
            <a:r>
              <a:rPr lang="fr-FR" u="sng" dirty="0"/>
              <a:t>Partenariat avec l’IGN :</a:t>
            </a:r>
          </a:p>
          <a:p>
            <a:pPr algn="just"/>
            <a:r>
              <a:rPr lang="fr-FR" dirty="0"/>
              <a:t>Depuis 2019, OSM accède à la BD Ortho via une convention avec l’IGN</a:t>
            </a:r>
          </a:p>
          <a:p>
            <a:pPr algn="just"/>
            <a:endParaRPr lang="fr-FR" dirty="0"/>
          </a:p>
          <a:p>
            <a:pPr algn="just"/>
            <a:r>
              <a:rPr lang="fr-FR" u="sng" dirty="0"/>
              <a:t>À savoir sur les données OSM :</a:t>
            </a:r>
          </a:p>
          <a:p>
            <a:pPr algn="just"/>
            <a:r>
              <a:rPr lang="fr-FR" dirty="0"/>
              <a:t>Les données sont open source, mais</a:t>
            </a:r>
          </a:p>
          <a:p>
            <a:pPr algn="just"/>
            <a:r>
              <a:rPr lang="fr-FR" dirty="0"/>
              <a:t>Protégées par la licence </a:t>
            </a:r>
            <a:r>
              <a:rPr lang="fr-FR" dirty="0" err="1"/>
              <a:t>ODbL</a:t>
            </a:r>
            <a:r>
              <a:rPr lang="fr-FR" dirty="0"/>
              <a:t> → réutilisation encadrée</a:t>
            </a:r>
          </a:p>
        </p:txBody>
      </p:sp>
      <p:sp>
        <p:nvSpPr>
          <p:cNvPr id="21" name="Espace réservé du texte 13"/>
          <p:cNvSpPr>
            <a:spLocks noGrp="1"/>
          </p:cNvSpPr>
          <p:nvPr>
            <p:ph type="body" sz="quarter" idx="14"/>
          </p:nvPr>
        </p:nvSpPr>
        <p:spPr>
          <a:xfrm>
            <a:off x="3923928" y="1866130"/>
            <a:ext cx="2592288" cy="2685699"/>
          </a:xfrm>
        </p:spPr>
        <p:txBody>
          <a:bodyPr/>
          <a:lstStyle/>
          <a:p>
            <a:pPr algn="just"/>
            <a:r>
              <a:rPr lang="fr-FR" dirty="0"/>
              <a:t>Osmose (</a:t>
            </a:r>
            <a:r>
              <a:rPr lang="fr-FR" dirty="0" err="1"/>
              <a:t>OpenStreetMap</a:t>
            </a:r>
            <a:r>
              <a:rPr lang="fr-FR" dirty="0"/>
              <a:t> </a:t>
            </a:r>
            <a:r>
              <a:rPr lang="fr-FR" dirty="0" err="1"/>
              <a:t>Oversight</a:t>
            </a:r>
            <a:r>
              <a:rPr lang="fr-FR" dirty="0"/>
              <a:t> </a:t>
            </a:r>
            <a:r>
              <a:rPr lang="fr-FR" dirty="0" err="1"/>
              <a:t>Search</a:t>
            </a:r>
            <a:r>
              <a:rPr lang="fr-FR" dirty="0"/>
              <a:t> Engine) signale les erreurs potentielles dans les données OSM</a:t>
            </a:r>
          </a:p>
          <a:p>
            <a:pPr algn="just"/>
            <a:r>
              <a:rPr lang="fr-FR" dirty="0"/>
              <a:t>S’appuie sur des bases externes comme celle de l’IGN (tronçons de route)</a:t>
            </a:r>
          </a:p>
          <a:p>
            <a:pPr algn="just"/>
            <a:endParaRPr lang="fr-FR" dirty="0"/>
          </a:p>
          <a:p>
            <a:pPr algn="just"/>
            <a:r>
              <a:rPr lang="fr-FR" u="sng" dirty="0"/>
              <a:t>Utilité pour l’IGN :</a:t>
            </a:r>
          </a:p>
          <a:p>
            <a:pPr algn="just"/>
            <a:r>
              <a:rPr lang="fr-FR" dirty="0"/>
              <a:t>Son API open source permet un retour direct sur les signalements,</a:t>
            </a:r>
          </a:p>
          <a:p>
            <a:pPr algn="just"/>
            <a:r>
              <a:rPr lang="fr-FR" dirty="0"/>
              <a:t>Contourne les contraintes de la licence </a:t>
            </a:r>
            <a:r>
              <a:rPr lang="fr-FR" dirty="0" err="1"/>
              <a:t>ODbL</a:t>
            </a:r>
            <a:endParaRPr lang="fr-FR" dirty="0"/>
          </a:p>
        </p:txBody>
      </p:sp>
      <p:sp>
        <p:nvSpPr>
          <p:cNvPr id="15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428241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b. Le Projet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12" name="Espace réservé du texte 8"/>
          <p:cNvSpPr txBox="1">
            <a:spLocks/>
          </p:cNvSpPr>
          <p:nvPr/>
        </p:nvSpPr>
        <p:spPr bwMode="gray">
          <a:xfrm>
            <a:off x="287524" y="1860054"/>
            <a:ext cx="2520000" cy="519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8" name="Picture 4" descr="Fichier:Openstreetmap 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615" y="1399837"/>
            <a:ext cx="1440160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GN | Afige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" y="1339166"/>
            <a:ext cx="2405021" cy="152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446721" y="2494929"/>
            <a:ext cx="1187414" cy="420306"/>
          </a:xfrm>
        </p:spPr>
        <p:txBody>
          <a:bodyPr anchor="ctr"/>
          <a:lstStyle/>
          <a:p>
            <a:pPr algn="ctr"/>
            <a:r>
              <a:rPr lang="fr-FR" sz="2000" b="1" dirty="0"/>
              <a:t>OSMOSE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0" y="2787775"/>
            <a:ext cx="2856144" cy="720080"/>
          </a:xfrm>
        </p:spPr>
        <p:txBody>
          <a:bodyPr/>
          <a:lstStyle/>
          <a:p>
            <a:pPr algn="ctr"/>
            <a:r>
              <a:rPr lang="fr-FR" dirty="0"/>
              <a:t>L’IGN produit des données cartographiques qui intéresse OSM dans leur objectif de cartographier le monde </a:t>
            </a:r>
          </a:p>
        </p:txBody>
      </p:sp>
      <p:sp>
        <p:nvSpPr>
          <p:cNvPr id="38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2195736" y="1735312"/>
            <a:ext cx="1656184" cy="387284"/>
          </a:xfrm>
        </p:spPr>
        <p:txBody>
          <a:bodyPr/>
          <a:lstStyle/>
          <a:p>
            <a:pPr algn="ctr"/>
            <a:r>
              <a:rPr lang="fr-FR" dirty="0"/>
              <a:t>Données Géographiques publiques de L’IGN</a:t>
            </a:r>
          </a:p>
        </p:txBody>
      </p:sp>
      <p:sp>
        <p:nvSpPr>
          <p:cNvPr id="40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6321446" y="1949550"/>
            <a:ext cx="1471691" cy="481436"/>
          </a:xfrm>
        </p:spPr>
        <p:txBody>
          <a:bodyPr/>
          <a:lstStyle/>
          <a:p>
            <a:pPr algn="ctr"/>
            <a:r>
              <a:rPr lang="fr-FR" dirty="0"/>
              <a:t>Action correctrice sur la base OSM</a:t>
            </a:r>
          </a:p>
        </p:txBody>
      </p:sp>
      <p:cxnSp>
        <p:nvCxnSpPr>
          <p:cNvPr id="2056" name="Connecteur droit avec flèche 2055"/>
          <p:cNvCxnSpPr>
            <a:cxnSpLocks/>
            <a:stCxn id="74" idx="2"/>
            <a:endCxn id="2077" idx="0"/>
          </p:cNvCxnSpPr>
          <p:nvPr/>
        </p:nvCxnSpPr>
        <p:spPr>
          <a:xfrm flipH="1">
            <a:off x="5267687" y="2598315"/>
            <a:ext cx="84328" cy="1099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Connecteur en angle 2060"/>
          <p:cNvCxnSpPr/>
          <p:nvPr/>
        </p:nvCxnSpPr>
        <p:spPr>
          <a:xfrm rot="10800000">
            <a:off x="971600" y="3470958"/>
            <a:ext cx="3536919" cy="445090"/>
          </a:xfrm>
          <a:prstGeom prst="bentConnector2">
            <a:avLst/>
          </a:prstGeom>
          <a:ln w="1905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4245440" y="4227934"/>
            <a:ext cx="2136845" cy="487002"/>
          </a:xfrm>
        </p:spPr>
        <p:txBody>
          <a:bodyPr/>
          <a:lstStyle/>
          <a:p>
            <a:pPr algn="ctr"/>
            <a:r>
              <a:rPr lang="fr-FR" dirty="0"/>
              <a:t>Hypothèse données OSM &gt; IGN</a:t>
            </a:r>
          </a:p>
          <a:p>
            <a:pPr algn="ctr"/>
            <a:r>
              <a:rPr lang="fr-FR" dirty="0"/>
              <a:t>Donc potentielle erreur BD IGN</a:t>
            </a:r>
          </a:p>
        </p:txBody>
      </p:sp>
      <p:sp>
        <p:nvSpPr>
          <p:cNvPr id="59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7668344" y="2832347"/>
            <a:ext cx="1320060" cy="1130017"/>
          </a:xfrm>
        </p:spPr>
        <p:txBody>
          <a:bodyPr/>
          <a:lstStyle/>
          <a:p>
            <a:pPr algn="ctr"/>
            <a:r>
              <a:rPr lang="fr-FR" dirty="0"/>
              <a:t>OSM a pour objectif de cartographier le monde</a:t>
            </a:r>
          </a:p>
        </p:txBody>
      </p:sp>
      <p:cxnSp>
        <p:nvCxnSpPr>
          <p:cNvPr id="2068" name="Connecteur en angle 2067"/>
          <p:cNvCxnSpPr>
            <a:cxnSpLocks/>
            <a:endCxn id="69" idx="0"/>
          </p:cNvCxnSpPr>
          <p:nvPr/>
        </p:nvCxnSpPr>
        <p:spPr>
          <a:xfrm rot="16200000" flipH="1" flipV="1">
            <a:off x="5840788" y="-722240"/>
            <a:ext cx="756000" cy="4320000"/>
          </a:xfrm>
          <a:prstGeom prst="bentConnector3">
            <a:avLst>
              <a:gd name="adj1" fmla="val -30421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9" descr="C:\Users\gbregand\Downloads\base-de-donnee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514" y="1815761"/>
            <a:ext cx="59055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7" name="Ellipse 2076"/>
          <p:cNvSpPr/>
          <p:nvPr/>
        </p:nvSpPr>
        <p:spPr>
          <a:xfrm>
            <a:off x="4153088" y="3698213"/>
            <a:ext cx="2229197" cy="43567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Faux positif</a:t>
            </a:r>
          </a:p>
        </p:txBody>
      </p:sp>
      <p:sp>
        <p:nvSpPr>
          <p:cNvPr id="79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5004048" y="411510"/>
            <a:ext cx="1656184" cy="387284"/>
          </a:xfrm>
        </p:spPr>
        <p:txBody>
          <a:bodyPr/>
          <a:lstStyle/>
          <a:p>
            <a:pPr algn="ctr"/>
            <a:r>
              <a:rPr lang="fr-FR" dirty="0"/>
              <a:t>Données Géographiques déjà en base OSM</a:t>
            </a:r>
          </a:p>
        </p:txBody>
      </p:sp>
      <p:cxnSp>
        <p:nvCxnSpPr>
          <p:cNvPr id="46" name="Connecteur droit avec flèche 45"/>
          <p:cNvCxnSpPr>
            <a:stCxn id="1030" idx="3"/>
            <a:endCxn id="69" idx="1"/>
          </p:cNvCxnSpPr>
          <p:nvPr/>
        </p:nvCxnSpPr>
        <p:spPr>
          <a:xfrm>
            <a:off x="2402993" y="2102155"/>
            <a:ext cx="1360521" cy="888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>
            <a:cxnSpLocks/>
            <a:stCxn id="74" idx="3"/>
            <a:endCxn id="1028" idx="1"/>
          </p:cNvCxnSpPr>
          <p:nvPr/>
        </p:nvCxnSpPr>
        <p:spPr>
          <a:xfrm>
            <a:off x="6296940" y="2104098"/>
            <a:ext cx="1363675" cy="158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utoShape 11" descr="Petit bonhomme blanc images libres de droit, photos de Petit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673" y="880489"/>
            <a:ext cx="513262" cy="7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Rectangle 73"/>
          <p:cNvSpPr/>
          <p:nvPr/>
        </p:nvSpPr>
        <p:spPr>
          <a:xfrm>
            <a:off x="4407090" y="1609881"/>
            <a:ext cx="1889850" cy="98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Comparaison </a:t>
            </a:r>
            <a:r>
              <a:rPr lang="fr-FR" sz="1100" dirty="0">
                <a:solidFill>
                  <a:schemeClr val="tx1"/>
                </a:solidFill>
              </a:rPr>
              <a:t>des données OSM avec les données IGN par un contributeur OSM</a:t>
            </a:r>
          </a:p>
          <a:p>
            <a:pPr algn="ctr"/>
            <a:r>
              <a:rPr lang="fr-FR" sz="1100" dirty="0">
                <a:solidFill>
                  <a:schemeClr val="tx1"/>
                </a:solidFill>
              </a:rPr>
              <a:t>(actuellement environ 200 000 signalements)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3571021" y="3219822"/>
            <a:ext cx="9755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Reste stocké</a:t>
            </a:r>
          </a:p>
        </p:txBody>
      </p:sp>
      <p:cxnSp>
        <p:nvCxnSpPr>
          <p:cNvPr id="9" name="Connecteur droit avec flèche 8"/>
          <p:cNvCxnSpPr>
            <a:cxnSpLocks/>
            <a:stCxn id="16" idx="2"/>
            <a:endCxn id="2077" idx="1"/>
          </p:cNvCxnSpPr>
          <p:nvPr/>
        </p:nvCxnSpPr>
        <p:spPr>
          <a:xfrm>
            <a:off x="4040428" y="2915235"/>
            <a:ext cx="439118" cy="84678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36" name="Multiplier 2063">
            <a:extLst>
              <a:ext uri="{FF2B5EF4-FFF2-40B4-BE49-F238E27FC236}">
                <a16:creationId xmlns:a16="http://schemas.microsoft.com/office/drawing/2014/main" id="{741E8BFD-5076-4F29-89A0-BDEDEE55798C}"/>
              </a:ext>
            </a:extLst>
          </p:cNvPr>
          <p:cNvSpPr/>
          <p:nvPr/>
        </p:nvSpPr>
        <p:spPr>
          <a:xfrm>
            <a:off x="2051720" y="3592013"/>
            <a:ext cx="875159" cy="648072"/>
          </a:xfrm>
          <a:prstGeom prst="mathMultiply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6243CBE2-F660-4CB1-AAFC-A7294FB1A0E0}"/>
              </a:ext>
            </a:extLst>
          </p:cNvPr>
          <p:cNvSpPr txBox="1">
            <a:spLocks/>
          </p:cNvSpPr>
          <p:nvPr/>
        </p:nvSpPr>
        <p:spPr bwMode="gray">
          <a:xfrm>
            <a:off x="1565458" y="4211544"/>
            <a:ext cx="1900477" cy="11901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>
                <a:solidFill>
                  <a:srgbClr val="FF0000"/>
                </a:solidFill>
              </a:rPr>
              <a:t>Il n’y a pas de retour à l’IGN des données qu'OSMOSE considère comme faussées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05CD61EA-378E-43FF-9EF4-D6BF245D5E77}"/>
              </a:ext>
            </a:extLst>
          </p:cNvPr>
          <p:cNvSpPr txBox="1">
            <a:spLocks/>
          </p:cNvSpPr>
          <p:nvPr/>
        </p:nvSpPr>
        <p:spPr bwMode="gray">
          <a:xfrm>
            <a:off x="5357701" y="2687592"/>
            <a:ext cx="2022611" cy="4814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/>
              <a:t>Données Faux positif selon contributeur</a:t>
            </a:r>
          </a:p>
          <a:p>
            <a:pPr algn="ctr"/>
            <a:r>
              <a:rPr lang="fr-FR"/>
              <a:t>Environ 1 signalement pour 500 émis par OSMOSE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03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b. Le Projet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12" name="Espace réservé du texte 8"/>
          <p:cNvSpPr txBox="1">
            <a:spLocks/>
          </p:cNvSpPr>
          <p:nvPr/>
        </p:nvSpPr>
        <p:spPr bwMode="gray">
          <a:xfrm>
            <a:off x="287524" y="1860054"/>
            <a:ext cx="2520000" cy="519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8" name="Picture 4" descr="Fichier:Openstreetmap 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615" y="1399837"/>
            <a:ext cx="1440160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GN | Afige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8" y="1339166"/>
            <a:ext cx="2405021" cy="152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446721" y="2494929"/>
            <a:ext cx="1187414" cy="420306"/>
          </a:xfrm>
        </p:spPr>
        <p:txBody>
          <a:bodyPr anchor="ctr"/>
          <a:lstStyle/>
          <a:p>
            <a:pPr algn="ctr"/>
            <a:r>
              <a:rPr lang="fr-FR" sz="2000" b="1" dirty="0"/>
              <a:t>OSMOSE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0" y="2787775"/>
            <a:ext cx="2856144" cy="720080"/>
          </a:xfrm>
        </p:spPr>
        <p:txBody>
          <a:bodyPr/>
          <a:lstStyle/>
          <a:p>
            <a:pPr algn="ctr"/>
            <a:r>
              <a:rPr lang="fr-FR" dirty="0"/>
              <a:t>L’IGN produit des données cartographiques qui intéresse OSM dans leur objectif de cartographier le monde </a:t>
            </a:r>
          </a:p>
        </p:txBody>
      </p:sp>
      <p:sp>
        <p:nvSpPr>
          <p:cNvPr id="38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2195736" y="1735312"/>
            <a:ext cx="1656184" cy="387284"/>
          </a:xfrm>
        </p:spPr>
        <p:txBody>
          <a:bodyPr/>
          <a:lstStyle/>
          <a:p>
            <a:pPr algn="ctr"/>
            <a:r>
              <a:rPr lang="fr-FR" dirty="0"/>
              <a:t>Données Géographiques publiques de L’IGN</a:t>
            </a:r>
          </a:p>
        </p:txBody>
      </p:sp>
      <p:sp>
        <p:nvSpPr>
          <p:cNvPr id="40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6321446" y="1949550"/>
            <a:ext cx="1471691" cy="481436"/>
          </a:xfrm>
        </p:spPr>
        <p:txBody>
          <a:bodyPr/>
          <a:lstStyle/>
          <a:p>
            <a:pPr algn="ctr"/>
            <a:r>
              <a:rPr lang="fr-FR" dirty="0"/>
              <a:t>Action correctrice sur la base OSM</a:t>
            </a:r>
          </a:p>
        </p:txBody>
      </p:sp>
      <p:cxnSp>
        <p:nvCxnSpPr>
          <p:cNvPr id="2056" name="Connecteur droit avec flèche 2055"/>
          <p:cNvCxnSpPr>
            <a:cxnSpLocks/>
            <a:stCxn id="74" idx="2"/>
            <a:endCxn id="2077" idx="0"/>
          </p:cNvCxnSpPr>
          <p:nvPr/>
        </p:nvCxnSpPr>
        <p:spPr>
          <a:xfrm flipH="1">
            <a:off x="5267687" y="2598315"/>
            <a:ext cx="84328" cy="1099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5357701" y="2687592"/>
            <a:ext cx="2022611" cy="481436"/>
          </a:xfrm>
        </p:spPr>
        <p:txBody>
          <a:bodyPr/>
          <a:lstStyle/>
          <a:p>
            <a:pPr algn="ctr"/>
            <a:r>
              <a:rPr lang="fr-FR" dirty="0"/>
              <a:t>Données Faux positif selon contributeur</a:t>
            </a:r>
          </a:p>
          <a:p>
            <a:pPr algn="ctr"/>
            <a:r>
              <a:rPr lang="fr-FR" dirty="0"/>
              <a:t>Environ 1 signalement pour 500 émis par OSMOSE </a:t>
            </a:r>
          </a:p>
        </p:txBody>
      </p:sp>
      <p:cxnSp>
        <p:nvCxnSpPr>
          <p:cNvPr id="2061" name="Connecteur en angle 2060"/>
          <p:cNvCxnSpPr/>
          <p:nvPr/>
        </p:nvCxnSpPr>
        <p:spPr>
          <a:xfrm rot="10800000">
            <a:off x="971600" y="3470958"/>
            <a:ext cx="3536919" cy="445090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4245440" y="4227934"/>
            <a:ext cx="2136845" cy="487002"/>
          </a:xfrm>
        </p:spPr>
        <p:txBody>
          <a:bodyPr/>
          <a:lstStyle/>
          <a:p>
            <a:pPr algn="ctr"/>
            <a:r>
              <a:rPr lang="fr-FR" dirty="0"/>
              <a:t>Hypothèse données OSM &gt; IGN</a:t>
            </a:r>
          </a:p>
          <a:p>
            <a:pPr algn="ctr"/>
            <a:r>
              <a:rPr lang="fr-FR" dirty="0"/>
              <a:t>Donc potentielle erreur BD IGN</a:t>
            </a:r>
          </a:p>
        </p:txBody>
      </p:sp>
      <p:sp>
        <p:nvSpPr>
          <p:cNvPr id="59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7668344" y="2832347"/>
            <a:ext cx="1320060" cy="1130017"/>
          </a:xfrm>
        </p:spPr>
        <p:txBody>
          <a:bodyPr/>
          <a:lstStyle/>
          <a:p>
            <a:pPr algn="ctr"/>
            <a:r>
              <a:rPr lang="fr-FR" dirty="0"/>
              <a:t>OSM a pour objectif de cartographier le monde</a:t>
            </a:r>
          </a:p>
        </p:txBody>
      </p:sp>
      <p:cxnSp>
        <p:nvCxnSpPr>
          <p:cNvPr id="2068" name="Connecteur en angle 2067"/>
          <p:cNvCxnSpPr>
            <a:cxnSpLocks/>
            <a:endCxn id="69" idx="0"/>
          </p:cNvCxnSpPr>
          <p:nvPr/>
        </p:nvCxnSpPr>
        <p:spPr>
          <a:xfrm rot="16200000" flipH="1" flipV="1">
            <a:off x="5842314" y="-720715"/>
            <a:ext cx="752949" cy="4320000"/>
          </a:xfrm>
          <a:prstGeom prst="bentConnector3">
            <a:avLst>
              <a:gd name="adj1" fmla="val -30361"/>
            </a:avLst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9" descr="C:\Users\gbregand\Downloads\base-de-donnee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514" y="1815761"/>
            <a:ext cx="59055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7" name="Ellipse 2076"/>
          <p:cNvSpPr/>
          <p:nvPr/>
        </p:nvSpPr>
        <p:spPr>
          <a:xfrm>
            <a:off x="4153088" y="3698213"/>
            <a:ext cx="2229197" cy="43567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Faux positif</a:t>
            </a:r>
          </a:p>
        </p:txBody>
      </p:sp>
      <p:sp>
        <p:nvSpPr>
          <p:cNvPr id="79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5004048" y="411510"/>
            <a:ext cx="1656184" cy="387284"/>
          </a:xfrm>
        </p:spPr>
        <p:txBody>
          <a:bodyPr/>
          <a:lstStyle/>
          <a:p>
            <a:pPr algn="ctr"/>
            <a:r>
              <a:rPr lang="fr-FR" dirty="0"/>
              <a:t>Données Géographiques déjà en base OSM</a:t>
            </a:r>
          </a:p>
        </p:txBody>
      </p:sp>
      <p:cxnSp>
        <p:nvCxnSpPr>
          <p:cNvPr id="46" name="Connecteur droit avec flèche 45"/>
          <p:cNvCxnSpPr>
            <a:stCxn id="1030" idx="3"/>
            <a:endCxn id="69" idx="1"/>
          </p:cNvCxnSpPr>
          <p:nvPr/>
        </p:nvCxnSpPr>
        <p:spPr>
          <a:xfrm>
            <a:off x="2402993" y="2102155"/>
            <a:ext cx="1360521" cy="8881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>
            <a:cxnSpLocks/>
            <a:stCxn id="74" idx="3"/>
            <a:endCxn id="1028" idx="1"/>
          </p:cNvCxnSpPr>
          <p:nvPr/>
        </p:nvCxnSpPr>
        <p:spPr>
          <a:xfrm>
            <a:off x="6296940" y="2104098"/>
            <a:ext cx="1363675" cy="158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utoShape 11" descr="Petit bonhomme blanc images libres de droit, photos de Petit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673" y="880489"/>
            <a:ext cx="513262" cy="7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Rectangle 73"/>
          <p:cNvSpPr/>
          <p:nvPr/>
        </p:nvSpPr>
        <p:spPr>
          <a:xfrm>
            <a:off x="4407090" y="1609881"/>
            <a:ext cx="1889850" cy="98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/>
                </a:solidFill>
              </a:rPr>
              <a:t>Comparaison </a:t>
            </a:r>
            <a:r>
              <a:rPr lang="fr-FR" sz="1100" dirty="0">
                <a:solidFill>
                  <a:schemeClr val="tx1"/>
                </a:solidFill>
              </a:rPr>
              <a:t>des données OSM avec les données IGN par un contributeur OSM</a:t>
            </a:r>
          </a:p>
          <a:p>
            <a:pPr algn="ctr"/>
            <a:r>
              <a:rPr lang="fr-FR" sz="1100" dirty="0">
                <a:solidFill>
                  <a:schemeClr val="tx1"/>
                </a:solidFill>
              </a:rPr>
              <a:t>(actuellement environ 200 000 signalements)</a:t>
            </a:r>
          </a:p>
        </p:txBody>
      </p:sp>
      <p:sp>
        <p:nvSpPr>
          <p:cNvPr id="32" name="Ellipse 31"/>
          <p:cNvSpPr/>
          <p:nvPr/>
        </p:nvSpPr>
        <p:spPr>
          <a:xfrm>
            <a:off x="1763688" y="3627090"/>
            <a:ext cx="1368152" cy="662558"/>
          </a:xfrm>
          <a:prstGeom prst="ellipse">
            <a:avLst/>
          </a:prstGeom>
          <a:solidFill>
            <a:srgbClr val="00B050"/>
          </a:solidFill>
          <a:ln>
            <a:solidFill>
              <a:srgbClr val="008E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OSMOSE CRACKER</a:t>
            </a:r>
          </a:p>
        </p:txBody>
      </p:sp>
      <p:sp>
        <p:nvSpPr>
          <p:cNvPr id="33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1200482" y="4299942"/>
            <a:ext cx="2563032" cy="387284"/>
          </a:xfrm>
        </p:spPr>
        <p:txBody>
          <a:bodyPr/>
          <a:lstStyle/>
          <a:p>
            <a:pPr algn="ctr"/>
            <a:r>
              <a:rPr lang="fr-FR" b="1" dirty="0">
                <a:solidFill>
                  <a:srgbClr val="008E40"/>
                </a:solidFill>
              </a:rPr>
              <a:t>Faire remonter les données considérées fausses par des contributeurs OSM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3571021" y="3219822"/>
            <a:ext cx="9755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Reste stocké</a:t>
            </a:r>
          </a:p>
        </p:txBody>
      </p:sp>
      <p:cxnSp>
        <p:nvCxnSpPr>
          <p:cNvPr id="9" name="Connecteur droit avec flèche 8"/>
          <p:cNvCxnSpPr>
            <a:cxnSpLocks/>
            <a:stCxn id="16" idx="2"/>
            <a:endCxn id="2077" idx="1"/>
          </p:cNvCxnSpPr>
          <p:nvPr/>
        </p:nvCxnSpPr>
        <p:spPr>
          <a:xfrm>
            <a:off x="4040428" y="2915235"/>
            <a:ext cx="439118" cy="84678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6607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84"/>
          <a:stretch/>
        </p:blipFill>
        <p:spPr>
          <a:xfrm>
            <a:off x="0" y="699542"/>
            <a:ext cx="9144000" cy="4053433"/>
          </a:xfrm>
        </p:spPr>
      </p:pic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Production 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8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76517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a. Signalement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07975" y="2696509"/>
            <a:ext cx="2823865" cy="412263"/>
          </a:xfrm>
        </p:spPr>
        <p:txBody>
          <a:bodyPr/>
          <a:lstStyle/>
          <a:p>
            <a:r>
              <a:rPr lang="fr-FR" sz="2000" dirty="0"/>
              <a:t>OSMOSE CRAKER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4"/>
          </p:nvPr>
        </p:nvSpPr>
        <p:spPr>
          <a:xfrm>
            <a:off x="307974" y="3161523"/>
            <a:ext cx="2607841" cy="1203638"/>
          </a:xfrm>
        </p:spPr>
        <p:txBody>
          <a:bodyPr/>
          <a:lstStyle/>
          <a:p>
            <a:pPr algn="just"/>
            <a:r>
              <a:rPr lang="fr-FR" dirty="0"/>
              <a:t>Le programme OSMOSE Cracker créé automatiquement des signalements dans l’espace collaboratif CO, dès qu’un faux positif concernant des données IGN est détecté via nos appels à l’API d’OSMOSE.</a:t>
            </a:r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16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4B328E-34DB-4927-BDB9-984B6D90B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442" y="267494"/>
            <a:ext cx="3618064" cy="4330052"/>
          </a:xfrm>
          <a:prstGeom prst="rect">
            <a:avLst/>
          </a:prstGeom>
        </p:spPr>
      </p:pic>
      <p:sp>
        <p:nvSpPr>
          <p:cNvPr id="15" name="Espace réservé du texte 13">
            <a:extLst>
              <a:ext uri="{FF2B5EF4-FFF2-40B4-BE49-F238E27FC236}">
                <a16:creationId xmlns:a16="http://schemas.microsoft.com/office/drawing/2014/main" id="{E3642A9B-E19A-45D0-B6E1-8829DCF4D4D3}"/>
              </a:ext>
            </a:extLst>
          </p:cNvPr>
          <p:cNvSpPr txBox="1">
            <a:spLocks/>
          </p:cNvSpPr>
          <p:nvPr/>
        </p:nvSpPr>
        <p:spPr bwMode="gray">
          <a:xfrm>
            <a:off x="359999" y="1540072"/>
            <a:ext cx="2520000" cy="1144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dirty="0"/>
              <a:t>Les signalements servent à pointé de potentiel erreurs en bases.</a:t>
            </a:r>
          </a:p>
          <a:p>
            <a:pPr algn="just"/>
            <a:r>
              <a:rPr lang="fr-FR" dirty="0"/>
              <a:t>Ils sont analysés par MAJEC, l’unité dédiée à la mise à jour continue des données </a:t>
            </a:r>
            <a:endParaRPr lang="fr-F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5157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b. Rapport et Code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12" name="Espace réservé du texte 8"/>
          <p:cNvSpPr txBox="1">
            <a:spLocks/>
          </p:cNvSpPr>
          <p:nvPr/>
        </p:nvSpPr>
        <p:spPr bwMode="gray">
          <a:xfrm>
            <a:off x="323528" y="2508126"/>
            <a:ext cx="2520000" cy="519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fr-FR" sz="2800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07974" y="1439407"/>
            <a:ext cx="2823865" cy="412263"/>
          </a:xfrm>
        </p:spPr>
        <p:txBody>
          <a:bodyPr/>
          <a:lstStyle/>
          <a:p>
            <a:r>
              <a:rPr lang="fr-FR" sz="2000" dirty="0"/>
              <a:t>Git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4"/>
          </p:nvPr>
        </p:nvSpPr>
        <p:spPr>
          <a:xfrm>
            <a:off x="307975" y="1923678"/>
            <a:ext cx="2823864" cy="2574000"/>
          </a:xfrm>
        </p:spPr>
        <p:txBody>
          <a:bodyPr/>
          <a:lstStyle/>
          <a:p>
            <a:pPr algn="just"/>
            <a:r>
              <a:rPr lang="fr-FR" dirty="0"/>
              <a:t>Permet une meilleure communication interne et assure des sauvegardes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Contient le code, la documentation, et les rapports mensuels</a:t>
            </a:r>
          </a:p>
          <a:p>
            <a:pPr algn="just"/>
            <a:r>
              <a:rPr lang="fr-FR" dirty="0"/>
              <a:t>(Ces rapports aident à la prise de décision des chefs MAJEC)</a:t>
            </a:r>
          </a:p>
        </p:txBody>
      </p:sp>
      <p:sp>
        <p:nvSpPr>
          <p:cNvPr id="16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283BBA4-0DF1-4D39-B2A3-7535A2F87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988" y="1474865"/>
            <a:ext cx="4550078" cy="281557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E48FA69-FF57-43CB-821F-3FBC4153F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255" y="60129"/>
            <a:ext cx="1379278" cy="137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6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84"/>
          <a:stretch/>
        </p:blipFill>
        <p:spPr>
          <a:xfrm>
            <a:off x="0" y="699542"/>
            <a:ext cx="9144000" cy="4053433"/>
          </a:xfrm>
        </p:spPr>
      </p:pic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Résultat 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8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418870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a. Signalement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12" name="Espace réservé du texte 8"/>
          <p:cNvSpPr txBox="1">
            <a:spLocks/>
          </p:cNvSpPr>
          <p:nvPr/>
        </p:nvSpPr>
        <p:spPr bwMode="gray">
          <a:xfrm>
            <a:off x="323528" y="2508126"/>
            <a:ext cx="2520000" cy="519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4"/>
          </p:nvPr>
        </p:nvSpPr>
        <p:spPr>
          <a:xfrm>
            <a:off x="164633" y="1415039"/>
            <a:ext cx="3620394" cy="3100927"/>
          </a:xfrm>
        </p:spPr>
        <p:txBody>
          <a:bodyPr/>
          <a:lstStyle/>
          <a:p>
            <a:r>
              <a:rPr lang="fr-FR" u="sng" dirty="0"/>
              <a:t>L’outil est pertinent si une part suffisante des signalements est utile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C459"/>
                </a:solidFill>
              </a:rPr>
              <a:t>Valide</a:t>
            </a:r>
            <a:r>
              <a:rPr lang="fr-FR" dirty="0"/>
              <a:t> : entraîne une </a:t>
            </a:r>
            <a:r>
              <a:rPr lang="fr-FR" b="1" dirty="0"/>
              <a:t>modification en base</a:t>
            </a:r>
            <a:r>
              <a:rPr lang="fr-FR" dirty="0"/>
              <a:t> → amélioration de la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5841"/>
                </a:solidFill>
              </a:rPr>
              <a:t>Valide0</a:t>
            </a:r>
            <a:r>
              <a:rPr lang="fr-FR" dirty="0"/>
              <a:t> : pas de modification (info déjà présente) mais signalement juste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Rejet</a:t>
            </a:r>
            <a:r>
              <a:rPr lang="fr-FR" b="1" dirty="0"/>
              <a:t> / </a:t>
            </a:r>
            <a:r>
              <a:rPr lang="fr-FR" b="1" dirty="0">
                <a:solidFill>
                  <a:schemeClr val="bg2"/>
                </a:solidFill>
              </a:rPr>
              <a:t>Rejet0</a:t>
            </a:r>
            <a:r>
              <a:rPr lang="fr-FR" dirty="0">
                <a:solidFill>
                  <a:schemeClr val="bg2"/>
                </a:solidFill>
              </a:rPr>
              <a:t> </a:t>
            </a:r>
            <a:r>
              <a:rPr lang="fr-FR" dirty="0"/>
              <a:t>: </a:t>
            </a:r>
            <a:r>
              <a:rPr lang="fr-FR" b="1" dirty="0"/>
              <a:t>signalement faut</a:t>
            </a:r>
            <a:r>
              <a:rPr lang="fr-FR" dirty="0"/>
              <a:t> → aucune modification</a:t>
            </a:r>
          </a:p>
          <a:p>
            <a:pPr algn="just"/>
            <a:endParaRPr lang="fr-FR" dirty="0"/>
          </a:p>
          <a:p>
            <a:pPr algn="just"/>
            <a:r>
              <a:rPr lang="fr-FR" dirty="0"/>
              <a:t>Les rapports mensuels permettent d’évaluer l’impact de l’outil</a:t>
            </a:r>
          </a:p>
          <a:p>
            <a:pPr algn="just"/>
            <a:r>
              <a:rPr lang="fr-FR" dirty="0"/>
              <a:t>Les retours des collecteurs MAJEC sont essentiels pour :</a:t>
            </a:r>
          </a:p>
          <a:p>
            <a:pPr algn="just"/>
            <a:r>
              <a:rPr lang="fr-FR" dirty="0"/>
              <a:t>    Comprendre son utilité réelle</a:t>
            </a:r>
          </a:p>
          <a:p>
            <a:pPr algn="just"/>
            <a:r>
              <a:rPr lang="fr-FR" dirty="0"/>
              <a:t>    Identifier des pistes d’amélioration ou de mise à jour</a:t>
            </a:r>
          </a:p>
        </p:txBody>
      </p:sp>
      <p:sp>
        <p:nvSpPr>
          <p:cNvPr id="16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F8BD8C9-3EE7-4FB5-91C4-363575224A2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45513" y="508931"/>
            <a:ext cx="3276176" cy="2494789"/>
          </a:xfrm>
          <a:prstGeom prst="rect">
            <a:avLst/>
          </a:prstGeom>
          <a:noFill/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A7B5C0D7-5C76-4FF4-A477-4AFE09540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901114"/>
              </p:ext>
            </p:extLst>
          </p:nvPr>
        </p:nvGraphicFramePr>
        <p:xfrm>
          <a:off x="3966200" y="3308175"/>
          <a:ext cx="4998973" cy="431268"/>
        </p:xfrm>
        <a:graphic>
          <a:graphicData uri="http://schemas.openxmlformats.org/drawingml/2006/table">
            <a:tbl>
              <a:tblPr firstRow="1" firstCol="1" bandRow="1"/>
              <a:tblGrid>
                <a:gridCol w="814576">
                  <a:extLst>
                    <a:ext uri="{9D8B030D-6E8A-4147-A177-3AD203B41FA5}">
                      <a16:colId xmlns:a16="http://schemas.microsoft.com/office/drawing/2014/main" val="197305795"/>
                    </a:ext>
                  </a:extLst>
                </a:gridCol>
                <a:gridCol w="814576">
                  <a:extLst>
                    <a:ext uri="{9D8B030D-6E8A-4147-A177-3AD203B41FA5}">
                      <a16:colId xmlns:a16="http://schemas.microsoft.com/office/drawing/2014/main" val="903277526"/>
                    </a:ext>
                  </a:extLst>
                </a:gridCol>
                <a:gridCol w="843201">
                  <a:extLst>
                    <a:ext uri="{9D8B030D-6E8A-4147-A177-3AD203B41FA5}">
                      <a16:colId xmlns:a16="http://schemas.microsoft.com/office/drawing/2014/main" val="3944577889"/>
                    </a:ext>
                  </a:extLst>
                </a:gridCol>
                <a:gridCol w="818752">
                  <a:extLst>
                    <a:ext uri="{9D8B030D-6E8A-4147-A177-3AD203B41FA5}">
                      <a16:colId xmlns:a16="http://schemas.microsoft.com/office/drawing/2014/main" val="853176262"/>
                    </a:ext>
                  </a:extLst>
                </a:gridCol>
                <a:gridCol w="853934">
                  <a:extLst>
                    <a:ext uri="{9D8B030D-6E8A-4147-A177-3AD203B41FA5}">
                      <a16:colId xmlns:a16="http://schemas.microsoft.com/office/drawing/2014/main" val="243579302"/>
                    </a:ext>
                  </a:extLst>
                </a:gridCol>
                <a:gridCol w="853934">
                  <a:extLst>
                    <a:ext uri="{9D8B030D-6E8A-4147-A177-3AD203B41FA5}">
                      <a16:colId xmlns:a16="http://schemas.microsoft.com/office/drawing/2014/main" val="2803299332"/>
                    </a:ext>
                  </a:extLst>
                </a:gridCol>
              </a:tblGrid>
              <a:tr h="215634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STATUT</a:t>
                      </a:r>
                      <a:endParaRPr lang="fr-FR" sz="1200" dirty="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reject</a:t>
                      </a:r>
                      <a:endParaRPr lang="fr-FR" sz="1200" dirty="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reject0</a:t>
                      </a:r>
                      <a:endParaRPr lang="fr-FR" sz="1200" dirty="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valide</a:t>
                      </a:r>
                      <a:endParaRPr lang="fr-FR" sz="1200" dirty="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valide0</a:t>
                      </a:r>
                      <a:endParaRPr lang="fr-FR" sz="1200" dirty="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 b="1" dirty="0">
                          <a:effectLst/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841781"/>
                  </a:ext>
                </a:extLst>
              </a:tr>
              <a:tr h="215634"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Nombre</a:t>
                      </a:r>
                      <a:endParaRPr lang="fr-FR" sz="120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18</a:t>
                      </a:r>
                      <a:endParaRPr lang="fr-FR" sz="120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21</a:t>
                      </a:r>
                      <a:endParaRPr lang="fr-FR" sz="120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86</a:t>
                      </a:r>
                      <a:endParaRPr lang="fr-FR" sz="120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3</a:t>
                      </a:r>
                      <a:endParaRPr lang="fr-FR" sz="1200" dirty="0">
                        <a:effectLst/>
                        <a:latin typeface="Arial" panose="020B0604020202020204" pitchFamily="34" charset="0"/>
                        <a:ea typeface="Arial Unicode MS" panose="020B0604020202020204" pitchFamily="34" charset="-128"/>
                        <a:cs typeface="Tahom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300"/>
                        </a:spcAft>
                        <a:tabLst>
                          <a:tab pos="228600" algn="l"/>
                        </a:tabLst>
                      </a:pPr>
                      <a:r>
                        <a:rPr lang="fr-FR" sz="1200" b="1" dirty="0">
                          <a:effectLst/>
                          <a:latin typeface="Arial" panose="020B0604020202020204" pitchFamily="34" charset="0"/>
                          <a:ea typeface="Arial Unicode MS" panose="020B0604020202020204" pitchFamily="34" charset="-128"/>
                          <a:cs typeface="Tahoma" panose="020B0604030504040204" pitchFamily="34" charset="0"/>
                        </a:rPr>
                        <a:t>128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883001"/>
                  </a:ext>
                </a:extLst>
              </a:tr>
            </a:tbl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DC3DA72E-6F98-4ADE-AC38-B54638D428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6215" b="6916"/>
          <a:stretch/>
        </p:blipFill>
        <p:spPr>
          <a:xfrm>
            <a:off x="7644577" y="757884"/>
            <a:ext cx="1320595" cy="2246173"/>
          </a:xfrm>
          <a:prstGeom prst="rect">
            <a:avLst/>
          </a:prstGeom>
        </p:spPr>
      </p:pic>
      <p:sp>
        <p:nvSpPr>
          <p:cNvPr id="20" name="Titre 6">
            <a:extLst>
              <a:ext uri="{FF2B5EF4-FFF2-40B4-BE49-F238E27FC236}">
                <a16:creationId xmlns:a16="http://schemas.microsoft.com/office/drawing/2014/main" id="{6E369E58-6ED7-44FB-91DD-BF596C83BF6F}"/>
              </a:ext>
            </a:extLst>
          </p:cNvPr>
          <p:cNvSpPr txBox="1">
            <a:spLocks/>
          </p:cNvSpPr>
          <p:nvPr/>
        </p:nvSpPr>
        <p:spPr bwMode="gray">
          <a:xfrm>
            <a:off x="4204245" y="3948491"/>
            <a:ext cx="4760926" cy="6792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fr-FR" sz="2000" dirty="0"/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Résultat de l’année 2024</a:t>
            </a:r>
            <a:br>
              <a:rPr lang="fr-FR" sz="1600" dirty="0"/>
            </a:br>
            <a:br>
              <a:rPr lang="fr-FR" sz="1600" dirty="0"/>
            </a:br>
            <a:br>
              <a:rPr lang="fr-FR" sz="1600" dirty="0"/>
            </a:b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72769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60375" y="939634"/>
            <a:ext cx="2959497" cy="720000"/>
          </a:xfrm>
        </p:spPr>
        <p:txBody>
          <a:bodyPr/>
          <a:lstStyle/>
          <a:p>
            <a:r>
              <a:rPr lang="fr-FR" dirty="0"/>
              <a:t>b. Limite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2" name="Espace réservé du texte 8"/>
          <p:cNvSpPr txBox="1">
            <a:spLocks/>
          </p:cNvSpPr>
          <p:nvPr/>
        </p:nvSpPr>
        <p:spPr bwMode="gray">
          <a:xfrm>
            <a:off x="323528" y="2508126"/>
            <a:ext cx="2520000" cy="519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4"/>
          </p:nvPr>
        </p:nvSpPr>
        <p:spPr>
          <a:xfrm>
            <a:off x="352747" y="1559468"/>
            <a:ext cx="2627825" cy="3028506"/>
          </a:xfrm>
        </p:spPr>
        <p:txBody>
          <a:bodyPr/>
          <a:lstStyle/>
          <a:p>
            <a:pPr algn="just"/>
            <a:r>
              <a:rPr lang="fr-FR" sz="1100" u="sng" dirty="0"/>
              <a:t>Différence de </a:t>
            </a:r>
            <a:r>
              <a:rPr lang="fr-FR" sz="1100" u="sng" dirty="0" err="1"/>
              <a:t>spec</a:t>
            </a:r>
            <a:r>
              <a:rPr lang="fr-FR" sz="1100" u="sng" dirty="0"/>
              <a:t> IGN/OSM :</a:t>
            </a:r>
          </a:p>
          <a:p>
            <a:pPr algn="just"/>
            <a:r>
              <a:rPr lang="fr-FR" sz="1100" dirty="0"/>
              <a:t>De nombreux signalements sont rejetés non pas à cause d'erreurs, mais en raison de différences entre les spécifications IGN et OSM</a:t>
            </a:r>
          </a:p>
          <a:p>
            <a:pPr algn="just"/>
            <a:endParaRPr lang="fr-FR" sz="1100" dirty="0">
              <a:highlight>
                <a:srgbClr val="FFFF00"/>
              </a:highlight>
            </a:endParaRPr>
          </a:p>
          <a:p>
            <a:pPr algn="just"/>
            <a:endParaRPr lang="fr-FR" sz="1100" dirty="0">
              <a:highlight>
                <a:srgbClr val="FFFF00"/>
              </a:highlight>
            </a:endParaRPr>
          </a:p>
          <a:p>
            <a:pPr algn="just"/>
            <a:endParaRPr lang="fr-FR" sz="1100" dirty="0">
              <a:highlight>
                <a:srgbClr val="FFFF00"/>
              </a:highlight>
            </a:endParaRPr>
          </a:p>
          <a:p>
            <a:pPr algn="just"/>
            <a:endParaRPr lang="fr-FR" sz="1100" dirty="0">
              <a:highlight>
                <a:srgbClr val="FFFF00"/>
              </a:highlight>
            </a:endParaRPr>
          </a:p>
          <a:p>
            <a:pPr algn="just"/>
            <a:r>
              <a:rPr lang="fr-FR" sz="1100" u="sng" dirty="0"/>
              <a:t>Attente de nouveaux signalements 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100" dirty="0"/>
              <a:t>Attente de traitement de la part des contributeurs OSM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fr-FR" sz="1100" dirty="0"/>
              <a:t>Création ponctuelle de nouveaux signalements</a:t>
            </a:r>
            <a:endParaRPr lang="fr-FR" sz="1100" dirty="0">
              <a:highlight>
                <a:srgbClr val="FFFF00"/>
              </a:highlight>
            </a:endParaRPr>
          </a:p>
        </p:txBody>
      </p:sp>
      <p:sp>
        <p:nvSpPr>
          <p:cNvPr id="16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E2205AB9-F687-43B1-A886-12A99D581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55914"/>
              </p:ext>
            </p:extLst>
          </p:nvPr>
        </p:nvGraphicFramePr>
        <p:xfrm>
          <a:off x="3259340" y="666358"/>
          <a:ext cx="5782944" cy="2697480"/>
        </p:xfrm>
        <a:graphic>
          <a:graphicData uri="http://schemas.openxmlformats.org/drawingml/2006/table">
            <a:tbl>
              <a:tblPr/>
              <a:tblGrid>
                <a:gridCol w="1528684">
                  <a:extLst>
                    <a:ext uri="{9D8B030D-6E8A-4147-A177-3AD203B41FA5}">
                      <a16:colId xmlns:a16="http://schemas.microsoft.com/office/drawing/2014/main" val="8541057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651476345"/>
                    </a:ext>
                  </a:extLst>
                </a:gridCol>
                <a:gridCol w="2166028">
                  <a:extLst>
                    <a:ext uri="{9D8B030D-6E8A-4147-A177-3AD203B41FA5}">
                      <a16:colId xmlns:a16="http://schemas.microsoft.com/office/drawing/2014/main" val="2471256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100" b="1" dirty="0"/>
                        <a:t>Exemple 1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100" b="1" dirty="0"/>
                        <a:t>Exemple 2</a:t>
                      </a:r>
                      <a:r>
                        <a:rPr lang="fr-FR" sz="1100" dirty="0"/>
                        <a:t>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498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100" b="1" dirty="0"/>
                        <a:t>Description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100" dirty="0"/>
                        <a:t>Route de moins de 100 mètres vers un bâtiment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100" dirty="0"/>
                        <a:t>Route de moins de 100 mètres vers plusieurs bâtiments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039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100" b="1" dirty="0"/>
                        <a:t>Schéma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dirty="0">
                        <a:effectLst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dirty="0">
                        <a:effectLst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dirty="0">
                        <a:effectLst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dirty="0">
                        <a:effectLst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dirty="0">
                        <a:effectLst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100" dirty="0"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16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100" b="1" dirty="0"/>
                        <a:t>Spécifications IGN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FF0000"/>
                          </a:solidFill>
                        </a:rPr>
                        <a:t>Route non retenue</a:t>
                      </a:r>
                      <a:endParaRPr lang="fr-FR" sz="11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00B050"/>
                          </a:solidFill>
                        </a:rPr>
                        <a:t>Route retenue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586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100" b="1" dirty="0"/>
                        <a:t>Spécifications OSM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00B050"/>
                          </a:solidFill>
                        </a:rPr>
                        <a:t>Route souvent retenue</a:t>
                      </a:r>
                      <a:endParaRPr lang="fr-FR" sz="1100" b="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rgbClr val="FF0000"/>
                          </a:solidFill>
                        </a:rPr>
                        <a:t>Route souvent non retenue</a:t>
                      </a:r>
                      <a:endParaRPr lang="fr-FR" sz="11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076570"/>
                  </a:ext>
                </a:extLst>
              </a:tr>
            </a:tbl>
          </a:graphicData>
        </a:graphic>
      </p:graphicFrame>
      <p:pic>
        <p:nvPicPr>
          <p:cNvPr id="21" name="Image 20">
            <a:extLst>
              <a:ext uri="{FF2B5EF4-FFF2-40B4-BE49-F238E27FC236}">
                <a16:creationId xmlns:a16="http://schemas.microsoft.com/office/drawing/2014/main" id="{EB6065DF-2763-484B-882C-106209FB2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272" y="1627986"/>
            <a:ext cx="1547704" cy="1005681"/>
          </a:xfrm>
          <a:prstGeom prst="rect">
            <a:avLst/>
          </a:prstGeom>
        </p:spPr>
      </p:pic>
      <p:pic>
        <p:nvPicPr>
          <p:cNvPr id="25" name="Picture 1">
            <a:extLst>
              <a:ext uri="{FF2B5EF4-FFF2-40B4-BE49-F238E27FC236}">
                <a16:creationId xmlns:a16="http://schemas.microsoft.com/office/drawing/2014/main" id="{C4D170DD-5F17-4645-B7A7-DA340D19C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029" y="1378118"/>
            <a:ext cx="1702431" cy="140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8D52A539-77A3-4300-A8BE-82166C36EBBE}"/>
              </a:ext>
            </a:extLst>
          </p:cNvPr>
          <p:cNvSpPr txBox="1"/>
          <p:nvPr/>
        </p:nvSpPr>
        <p:spPr>
          <a:xfrm>
            <a:off x="3698640" y="352537"/>
            <a:ext cx="648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Comparaison des traitements des routes par IGN et OSM :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D8E4B87-1CCF-4537-B984-DBF45D84C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823" y="3485720"/>
            <a:ext cx="1297780" cy="129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1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12" name="Espace réservé du texte 8"/>
          <p:cNvSpPr txBox="1">
            <a:spLocks/>
          </p:cNvSpPr>
          <p:nvPr/>
        </p:nvSpPr>
        <p:spPr bwMode="gray">
          <a:xfrm>
            <a:off x="323528" y="2508126"/>
            <a:ext cx="2520000" cy="519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6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52D18486-FC1C-4AD2-9ED1-B251ECE2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38" y="730705"/>
            <a:ext cx="8424000" cy="447614"/>
          </a:xfrm>
        </p:spPr>
        <p:txBody>
          <a:bodyPr/>
          <a:lstStyle/>
          <a:p>
            <a:r>
              <a:rPr lang="fr-FR" dirty="0"/>
              <a:t>Conclusion 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3BF242D6-0526-4C6E-970D-24AFF6327B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038" y="1269103"/>
            <a:ext cx="4212001" cy="1493392"/>
          </a:xfrm>
        </p:spPr>
        <p:txBody>
          <a:bodyPr/>
          <a:lstStyle/>
          <a:p>
            <a:r>
              <a:rPr lang="fr-FR" dirty="0"/>
              <a:t>Ces résultats soulignent </a:t>
            </a:r>
            <a:r>
              <a:rPr lang="fr-FR" b="1" dirty="0"/>
              <a:t>l’importance du partage d’informations</a:t>
            </a:r>
            <a:r>
              <a:rPr lang="fr-FR" dirty="0"/>
              <a:t> entre acteurs</a:t>
            </a:r>
          </a:p>
          <a:p>
            <a:r>
              <a:rPr lang="fr-FR" dirty="0"/>
              <a:t>Améliorer mutuellement les bases de données</a:t>
            </a:r>
          </a:p>
          <a:p>
            <a:r>
              <a:rPr lang="fr-FR" dirty="0"/>
              <a:t>Une </a:t>
            </a:r>
            <a:r>
              <a:rPr lang="fr-FR" b="1" dirty="0"/>
              <a:t>collaboration continue</a:t>
            </a:r>
            <a:r>
              <a:rPr lang="fr-FR" dirty="0"/>
              <a:t> permet une </a:t>
            </a:r>
            <a:r>
              <a:rPr lang="fr-FR" b="1" dirty="0"/>
              <a:t>meilleure qualité des données pour tous</a:t>
            </a:r>
            <a:endParaRPr lang="fr-FR" dirty="0"/>
          </a:p>
        </p:txBody>
      </p:sp>
      <p:sp>
        <p:nvSpPr>
          <p:cNvPr id="19" name="Titre 9">
            <a:extLst>
              <a:ext uri="{FF2B5EF4-FFF2-40B4-BE49-F238E27FC236}">
                <a16:creationId xmlns:a16="http://schemas.microsoft.com/office/drawing/2014/main" id="{9AEE14D9-A2D4-451A-8E78-332C726F504B}"/>
              </a:ext>
            </a:extLst>
          </p:cNvPr>
          <p:cNvSpPr txBox="1">
            <a:spLocks/>
          </p:cNvSpPr>
          <p:nvPr/>
        </p:nvSpPr>
        <p:spPr bwMode="gray">
          <a:xfrm>
            <a:off x="271798" y="2410943"/>
            <a:ext cx="8424000" cy="44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Ouverture </a:t>
            </a:r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id="{DEF7E6B4-05EF-45BB-8348-E563DB0C2351}"/>
              </a:ext>
            </a:extLst>
          </p:cNvPr>
          <p:cNvSpPr txBox="1">
            <a:spLocks/>
          </p:cNvSpPr>
          <p:nvPr/>
        </p:nvSpPr>
        <p:spPr bwMode="gray">
          <a:xfrm>
            <a:off x="270955" y="2859782"/>
            <a:ext cx="8100433" cy="17179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Aux États-Unis, le projet </a:t>
            </a:r>
            <a:r>
              <a:rPr lang="fr-FR" b="1" dirty="0"/>
              <a:t>Public Domain </a:t>
            </a:r>
            <a:r>
              <a:rPr lang="fr-FR" b="1" dirty="0" err="1"/>
              <a:t>Map</a:t>
            </a:r>
            <a:r>
              <a:rPr lang="fr-FR" dirty="0"/>
              <a:t> illustre une initiative ambitieuse : </a:t>
            </a:r>
            <a:r>
              <a:rPr lang="fr-FR" b="1" dirty="0"/>
              <a:t>intégrer les données OSM dans la base nationale </a:t>
            </a:r>
            <a:r>
              <a:rPr lang="fr-FR" b="1" dirty="0" err="1"/>
              <a:t>GeoUSA</a:t>
            </a:r>
            <a:r>
              <a:rPr lang="fr-FR" dirty="0"/>
              <a:t>, tout en s’affranchissant des contraintes de la licence </a:t>
            </a:r>
            <a:r>
              <a:rPr lang="fr-FR" dirty="0" err="1"/>
              <a:t>ODbL</a:t>
            </a:r>
            <a:r>
              <a:rPr lang="fr-FR" dirty="0"/>
              <a:t>.</a:t>
            </a:r>
          </a:p>
          <a:p>
            <a:r>
              <a:rPr lang="fr-FR" dirty="0"/>
              <a:t>L’enjeu n’est pas seulement juridique. Il est </a:t>
            </a:r>
            <a:r>
              <a:rPr lang="fr-FR" b="1" dirty="0"/>
              <a:t>qualitatif</a:t>
            </a:r>
            <a:r>
              <a:rPr lang="fr-FR" dirty="0"/>
              <a:t> :</a:t>
            </a:r>
          </a:p>
          <a:p>
            <a:pPr lvl="1"/>
            <a:r>
              <a:rPr lang="fr-FR" b="1" dirty="0"/>
              <a:t>Comment garantir la fiabilité de données issues de contributions citoyennes ?</a:t>
            </a:r>
            <a:endParaRPr lang="fr-FR" dirty="0"/>
          </a:p>
          <a:p>
            <a:pPr lvl="1"/>
            <a:r>
              <a:rPr lang="fr-FR" b="1" dirty="0"/>
              <a:t>Comment assurer leur traçabilité, leur mise à jour, leur alignement avec des référentiels nationaux ?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ABD057-74F9-4D3D-B04A-7106D6E2A1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1393"/>
          <a:stretch/>
        </p:blipFill>
        <p:spPr>
          <a:xfrm>
            <a:off x="6970576" y="381123"/>
            <a:ext cx="1584176" cy="141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3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Merci de votre écoute ( / lecture )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007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/>
          </p:nvPr>
        </p:nvSpPr>
        <p:spPr>
          <a:xfrm>
            <a:off x="323528" y="1635646"/>
            <a:ext cx="8424000" cy="648072"/>
          </a:xfrm>
        </p:spPr>
        <p:txBody>
          <a:bodyPr/>
          <a:lstStyle/>
          <a:p>
            <a:r>
              <a:rPr lang="fr-FR" dirty="0">
                <a:solidFill>
                  <a:schemeClr val="tx2">
                    <a:lumMod val="75000"/>
                  </a:schemeClr>
                </a:solidFill>
              </a:rPr>
              <a:t>DOC 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395536" y="2211710"/>
            <a:ext cx="835292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hlinkClick r:id="rId2"/>
              </a:rPr>
              <a:t>https://osmose.openstreetmap.fr/fr/map/#zoom=18&amp;lat=45.754633&amp;lon=4.85329&amp;item=xxxx&amp;level=1%2C2%2C3&amp;tags=&amp;fixable=&amp;class=&amp;source</a:t>
            </a:r>
            <a:r>
              <a:rPr lang="fr-FR" sz="900" dirty="0"/>
              <a:t>= </a:t>
            </a:r>
          </a:p>
          <a:p>
            <a:r>
              <a:rPr lang="fr-FR" sz="900" dirty="0">
                <a:hlinkClick r:id="rId3"/>
              </a:rPr>
              <a:t>https://fr.m.wikipedia.org/wiki/Fichier:Openstreetmap_logo.svg</a:t>
            </a:r>
            <a:r>
              <a:rPr lang="fr-FR" sz="900" dirty="0"/>
              <a:t> </a:t>
            </a:r>
          </a:p>
          <a:p>
            <a:r>
              <a:rPr lang="fr-FR" sz="900" dirty="0">
                <a:hlinkClick r:id="rId4"/>
              </a:rPr>
              <a:t>https://www.flaticon.com/fr/icone-gratuite/base-de-donnees_149749</a:t>
            </a:r>
            <a:r>
              <a:rPr lang="fr-FR" sz="900" dirty="0"/>
              <a:t> </a:t>
            </a:r>
          </a:p>
          <a:p>
            <a:r>
              <a:rPr lang="fr-FR" sz="900" dirty="0">
                <a:hlinkClick r:id="rId5"/>
              </a:rPr>
              <a:t>https://www.openstreetmap.fr/une-nouvelle-convention-pour-un-partenariat-avec-lign/</a:t>
            </a:r>
            <a:r>
              <a:rPr lang="fr-FR" sz="900" dirty="0"/>
              <a:t> </a:t>
            </a:r>
          </a:p>
          <a:p>
            <a:r>
              <a:rPr lang="fr-FR" sz="900" dirty="0">
                <a:hlinkClick r:id="rId6"/>
              </a:rPr>
              <a:t>https://gitlab.ign.fr/bduni_prod/autres-projets/osmosecracker</a:t>
            </a:r>
            <a:r>
              <a:rPr lang="fr-FR" sz="900" dirty="0"/>
              <a:t> </a:t>
            </a:r>
          </a:p>
          <a:p>
            <a:r>
              <a:rPr lang="fr-FR" sz="900" dirty="0">
                <a:hlinkClick r:id="rId7"/>
              </a:rPr>
              <a:t>1    https://wiki.openstreetmap.org/wiki/FR:Page_principale</a:t>
            </a:r>
            <a:r>
              <a:rPr lang="fr-FR" sz="900" dirty="0"/>
              <a:t> </a:t>
            </a:r>
          </a:p>
          <a:p>
            <a:pPr marL="228600" indent="-228600">
              <a:buAutoNum type="arabicPlain" startAt="2"/>
            </a:pPr>
            <a:r>
              <a:rPr lang="fr-FR" sz="900" dirty="0">
                <a:hlinkClick r:id="rId8"/>
              </a:rPr>
              <a:t>https://wiki.openstreetmap.org/wiki/FR:Osmose</a:t>
            </a:r>
            <a:r>
              <a:rPr lang="fr-FR" sz="900" dirty="0"/>
              <a:t> </a:t>
            </a:r>
          </a:p>
          <a:p>
            <a:r>
              <a:rPr lang="fr-FR" sz="900" dirty="0">
                <a:hlinkClick r:id="rId9"/>
              </a:rPr>
              <a:t>https://fr.depositphotos.com/stock-photos/petit-bonhomme-blanc.html</a:t>
            </a:r>
            <a:r>
              <a:rPr lang="fr-FR" sz="900" dirty="0"/>
              <a:t> </a:t>
            </a:r>
          </a:p>
          <a:p>
            <a:r>
              <a:rPr lang="fr-FR" sz="900" dirty="0">
                <a:hlinkClick r:id="rId10"/>
              </a:rPr>
              <a:t>https://openstreetmap.us/news/2024/12/pdmap-update/</a:t>
            </a:r>
            <a:r>
              <a:rPr lang="fr-FR" sz="900" dirty="0"/>
              <a:t> </a:t>
            </a:r>
          </a:p>
        </p:txBody>
      </p:sp>
      <p:sp>
        <p:nvSpPr>
          <p:cNvPr id="8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169581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b. Le Projet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12" name="Espace réservé du texte 8"/>
          <p:cNvSpPr txBox="1">
            <a:spLocks/>
          </p:cNvSpPr>
          <p:nvPr/>
        </p:nvSpPr>
        <p:spPr bwMode="gray">
          <a:xfrm>
            <a:off x="323528" y="2508126"/>
            <a:ext cx="2520000" cy="519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fr-FR" sz="2800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307974" y="1439407"/>
            <a:ext cx="7576394" cy="412263"/>
          </a:xfrm>
        </p:spPr>
        <p:txBody>
          <a:bodyPr/>
          <a:lstStyle/>
          <a:p>
            <a:r>
              <a:rPr lang="fr-FR" sz="2000" dirty="0"/>
              <a:t>OSMOSECRAKER Fonctionnement </a:t>
            </a:r>
          </a:p>
          <a:p>
            <a:r>
              <a:rPr lang="fr-FR" sz="2000" dirty="0"/>
              <a:t>Technique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4"/>
          </p:nvPr>
        </p:nvSpPr>
        <p:spPr>
          <a:xfrm>
            <a:off x="323528" y="2283718"/>
            <a:ext cx="5040560" cy="2376264"/>
          </a:xfrm>
        </p:spPr>
        <p:txBody>
          <a:bodyPr/>
          <a:lstStyle/>
          <a:p>
            <a:pPr algn="just"/>
            <a:r>
              <a:rPr lang="fr-FR" sz="1400" dirty="0"/>
              <a:t>1: Lancement du programme avec de multiples paramètres.  </a:t>
            </a:r>
          </a:p>
          <a:p>
            <a:pPr algn="just"/>
            <a:r>
              <a:rPr lang="fr-FR" sz="1400" dirty="0"/>
              <a:t>2: Vérification des connexions aux différents serveurs.</a:t>
            </a:r>
          </a:p>
          <a:p>
            <a:pPr algn="just"/>
            <a:r>
              <a:rPr lang="fr-FR" sz="1400" dirty="0"/>
              <a:t>3: Appel API OSMOSE.</a:t>
            </a:r>
          </a:p>
          <a:p>
            <a:pPr algn="just"/>
            <a:r>
              <a:rPr lang="fr-FR" sz="1400" dirty="0"/>
              <a:t>4: Récolte de données diverses liées aux données OSMOSE et autre stocker en base SQL.</a:t>
            </a:r>
          </a:p>
          <a:p>
            <a:pPr algn="just"/>
            <a:r>
              <a:rPr lang="fr-FR" sz="1400" dirty="0"/>
              <a:t>5: Vérification que les données ne soient pas dans une ZICAD.</a:t>
            </a:r>
          </a:p>
          <a:p>
            <a:pPr algn="just"/>
            <a:r>
              <a:rPr lang="fr-FR" sz="1400" dirty="0"/>
              <a:t>6: Signalement ESPACECO si c'est une nouvelle donnée et actualisation du statut ESPACECO.</a:t>
            </a:r>
          </a:p>
        </p:txBody>
      </p:sp>
      <p:sp>
        <p:nvSpPr>
          <p:cNvPr id="16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pic>
        <p:nvPicPr>
          <p:cNvPr id="10" name="Image 9" descr="Resumer de OSMOSE CRAKER_page-000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4383"/>
            <a:ext cx="3292736" cy="45735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llipse 1"/>
          <p:cNvSpPr/>
          <p:nvPr/>
        </p:nvSpPr>
        <p:spPr>
          <a:xfrm>
            <a:off x="6228184" y="195486"/>
            <a:ext cx="360040" cy="323180"/>
          </a:xfrm>
          <a:prstGeom prst="ellipse">
            <a:avLst/>
          </a:prstGeom>
          <a:solidFill>
            <a:srgbClr val="000000">
              <a:alpha val="5411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15" name="Ellipse 14"/>
          <p:cNvSpPr/>
          <p:nvPr/>
        </p:nvSpPr>
        <p:spPr>
          <a:xfrm>
            <a:off x="7308304" y="186296"/>
            <a:ext cx="360040" cy="323180"/>
          </a:xfrm>
          <a:prstGeom prst="ellipse">
            <a:avLst/>
          </a:prstGeom>
          <a:solidFill>
            <a:srgbClr val="000000">
              <a:alpha val="5411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17" name="Ellipse 16"/>
          <p:cNvSpPr/>
          <p:nvPr/>
        </p:nvSpPr>
        <p:spPr>
          <a:xfrm>
            <a:off x="8100392" y="555526"/>
            <a:ext cx="360040" cy="323180"/>
          </a:xfrm>
          <a:prstGeom prst="ellipse">
            <a:avLst/>
          </a:prstGeom>
          <a:solidFill>
            <a:srgbClr val="000000">
              <a:alpha val="5411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18" name="Ellipse 17"/>
          <p:cNvSpPr/>
          <p:nvPr/>
        </p:nvSpPr>
        <p:spPr>
          <a:xfrm>
            <a:off x="7380312" y="2215932"/>
            <a:ext cx="360040" cy="323180"/>
          </a:xfrm>
          <a:prstGeom prst="ellipse">
            <a:avLst/>
          </a:prstGeom>
          <a:solidFill>
            <a:srgbClr val="000000">
              <a:alpha val="5411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19" name="Ellipse 18"/>
          <p:cNvSpPr/>
          <p:nvPr/>
        </p:nvSpPr>
        <p:spPr>
          <a:xfrm>
            <a:off x="8440800" y="3147814"/>
            <a:ext cx="360040" cy="323180"/>
          </a:xfrm>
          <a:prstGeom prst="ellipse">
            <a:avLst/>
          </a:prstGeom>
          <a:solidFill>
            <a:srgbClr val="000000">
              <a:alpha val="5411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20" name="Ellipse 19"/>
          <p:cNvSpPr/>
          <p:nvPr/>
        </p:nvSpPr>
        <p:spPr>
          <a:xfrm>
            <a:off x="7884368" y="3867894"/>
            <a:ext cx="360040" cy="323180"/>
          </a:xfrm>
          <a:prstGeom prst="ellipse">
            <a:avLst/>
          </a:prstGeom>
          <a:solidFill>
            <a:srgbClr val="000000">
              <a:alpha val="5411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185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393315" y="939634"/>
            <a:ext cx="8424000" cy="720000"/>
          </a:xfrm>
        </p:spPr>
        <p:txBody>
          <a:bodyPr/>
          <a:lstStyle/>
          <a:p>
            <a:r>
              <a:rPr lang="fr-FR" dirty="0"/>
              <a:t>b. Problème différence de </a:t>
            </a:r>
            <a:r>
              <a:rPr lang="fr-FR" dirty="0" err="1"/>
              <a:t>spec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Institut national de l’information  géographique et forestière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12" name="Espace réservé du texte 8"/>
          <p:cNvSpPr txBox="1">
            <a:spLocks/>
          </p:cNvSpPr>
          <p:nvPr/>
        </p:nvSpPr>
        <p:spPr bwMode="gray">
          <a:xfrm>
            <a:off x="323528" y="2508126"/>
            <a:ext cx="2520000" cy="5197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 dirty="0"/>
          </a:p>
        </p:txBody>
      </p:sp>
      <p:sp>
        <p:nvSpPr>
          <p:cNvPr id="6" name="AutoShape 2" descr="Fichier:Openstreetmap logo.svg —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4"/>
          </p:nvPr>
        </p:nvSpPr>
        <p:spPr>
          <a:xfrm>
            <a:off x="359999" y="1415040"/>
            <a:ext cx="2627825" cy="1632130"/>
          </a:xfrm>
        </p:spPr>
        <p:txBody>
          <a:bodyPr/>
          <a:lstStyle/>
          <a:p>
            <a:pPr algn="just"/>
            <a:r>
              <a:rPr lang="fr-FR" dirty="0"/>
              <a:t>Majeur signalement rejeter du à des diff de </a:t>
            </a:r>
            <a:r>
              <a:rPr lang="fr-FR" dirty="0" err="1"/>
              <a:t>spec</a:t>
            </a:r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16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7614000" y="4783500"/>
            <a:ext cx="1170000" cy="360000"/>
          </a:xfrm>
        </p:spPr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pic>
        <p:nvPicPr>
          <p:cNvPr id="13" name="Picture 2" descr="C:\Users\gbregand\Downloads\specs_impasses.png">
            <a:extLst>
              <a:ext uri="{FF2B5EF4-FFF2-40B4-BE49-F238E27FC236}">
                <a16:creationId xmlns:a16="http://schemas.microsoft.com/office/drawing/2014/main" id="{9D7EADC7-BDD5-42C4-AD2F-8DB9EBB492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987"/>
          <a:stretch/>
        </p:blipFill>
        <p:spPr bwMode="auto">
          <a:xfrm>
            <a:off x="3667885" y="1452942"/>
            <a:ext cx="4976585" cy="230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7AFA3E3D-2877-4720-AE35-A13D685E6399}"/>
              </a:ext>
            </a:extLst>
          </p:cNvPr>
          <p:cNvSpPr/>
          <p:nvPr/>
        </p:nvSpPr>
        <p:spPr>
          <a:xfrm>
            <a:off x="6687910" y="2359660"/>
            <a:ext cx="502180" cy="12705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FA7D696-7422-4E63-B940-FE72055D10A5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 flipH="1">
            <a:off x="6939000" y="1109554"/>
            <a:ext cx="549324" cy="12501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0BA79A76-A544-41FF-98F3-B903BC064771}"/>
              </a:ext>
            </a:extLst>
          </p:cNvPr>
          <p:cNvSpPr txBox="1"/>
          <p:nvPr/>
        </p:nvSpPr>
        <p:spPr>
          <a:xfrm>
            <a:off x="6012160" y="186224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OSM peut considère ça comme une route alors que la </a:t>
            </a:r>
            <a:r>
              <a:rPr lang="fr-FR" dirty="0" err="1"/>
              <a:t>BDuni</a:t>
            </a:r>
            <a:r>
              <a:rPr lang="fr-FR" dirty="0"/>
              <a:t> non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908F38A-BCBB-41A8-9255-9F6F6B472142}"/>
              </a:ext>
            </a:extLst>
          </p:cNvPr>
          <p:cNvSpPr/>
          <p:nvPr/>
        </p:nvSpPr>
        <p:spPr>
          <a:xfrm rot="10800000">
            <a:off x="6158052" y="2359660"/>
            <a:ext cx="502180" cy="131210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DBE2F397-4C10-4574-9282-A518F48B89D5}"/>
              </a:ext>
            </a:extLst>
          </p:cNvPr>
          <p:cNvCxnSpPr>
            <a:cxnSpLocks/>
            <a:stCxn id="24" idx="0"/>
            <a:endCxn id="22" idx="0"/>
          </p:cNvCxnSpPr>
          <p:nvPr/>
        </p:nvCxnSpPr>
        <p:spPr>
          <a:xfrm flipV="1">
            <a:off x="5927742" y="3671763"/>
            <a:ext cx="481400" cy="205019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C6EDB4E4-FE2D-4136-A8D9-742E4ECF83FF}"/>
              </a:ext>
            </a:extLst>
          </p:cNvPr>
          <p:cNvSpPr txBox="1"/>
          <p:nvPr/>
        </p:nvSpPr>
        <p:spPr>
          <a:xfrm>
            <a:off x="4211960" y="3876782"/>
            <a:ext cx="3431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OSM peut ne considère pas ça comme une route par des contributeur OSM alors que la BDuni oui</a:t>
            </a:r>
          </a:p>
        </p:txBody>
      </p:sp>
    </p:spTree>
    <p:extLst>
      <p:ext uri="{BB962C8B-B14F-4D97-AF65-F5344CB8AC3E}">
        <p14:creationId xmlns:p14="http://schemas.microsoft.com/office/powerpoint/2010/main" val="155802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640" y="3831890"/>
            <a:ext cx="4386634" cy="6649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auto">
          <a:xfrm>
            <a:off x="7816196" y="3962341"/>
            <a:ext cx="540000" cy="288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charset="0"/>
                <a:cs typeface="Arial" charset="0"/>
              </a:rPr>
              <a:t>1 &amp; 2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6772484" y="4016341"/>
            <a:ext cx="288000" cy="18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953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6" name="Connecteur droit 15"/>
          <p:cNvCxnSpPr>
            <a:stCxn id="14" idx="1"/>
            <a:endCxn id="15" idx="3"/>
          </p:cNvCxnSpPr>
          <p:nvPr/>
        </p:nvCxnSpPr>
        <p:spPr bwMode="auto">
          <a:xfrm flipH="1">
            <a:off x="7060484" y="4106341"/>
            <a:ext cx="7557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Réduire / Augmenter le niveau de liste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Pour augmenter le niveau de liste :</a:t>
            </a:r>
          </a:p>
          <a:p>
            <a:pPr lvl="2"/>
            <a:r>
              <a:rPr lang="fr-FR" dirty="0"/>
              <a:t>(Ex. : pour passer du texte de niveau 1 au texte de niveau 2 sur la page suivante)</a:t>
            </a:r>
          </a:p>
          <a:p>
            <a:pPr lvl="2"/>
            <a:r>
              <a:rPr lang="fr-FR" dirty="0"/>
              <a:t>Sélectionner le texte de niveau 1 sur la page de texte</a:t>
            </a:r>
          </a:p>
          <a:p>
            <a:pPr lvl="2"/>
            <a:r>
              <a:rPr lang="fr-FR" dirty="0"/>
              <a:t>Menu Accueil / Augmenter le niveau de liste </a:t>
            </a:r>
            <a:r>
              <a:rPr lang="fr-FR" dirty="0">
                <a:solidFill>
                  <a:schemeClr val="bg2"/>
                </a:solidFill>
              </a:rPr>
              <a:t>(2)</a:t>
            </a:r>
          </a:p>
          <a:p>
            <a:pPr lvl="2"/>
            <a:r>
              <a:rPr lang="fr-FR" dirty="0"/>
              <a:t>Cette opération permet de passer au niveau de texte suivant</a:t>
            </a:r>
          </a:p>
          <a:p>
            <a:endParaRPr lang="fr-FR" dirty="0"/>
          </a:p>
          <a:p>
            <a:r>
              <a:rPr lang="fr-FR" dirty="0"/>
              <a:t>Pour réduire le niveau de liste :</a:t>
            </a:r>
          </a:p>
          <a:p>
            <a:pPr lvl="2"/>
            <a:r>
              <a:rPr lang="fr-FR" dirty="0"/>
              <a:t>(Ex. : pour passer du texte niveau 2 au texte niveau 1 sur la page suivante)</a:t>
            </a:r>
          </a:p>
          <a:p>
            <a:pPr lvl="2"/>
            <a:r>
              <a:rPr lang="fr-FR" dirty="0"/>
              <a:t>Sélectionner le texte niveau 2 sur la page de texte</a:t>
            </a:r>
          </a:p>
          <a:p>
            <a:pPr lvl="2"/>
            <a:r>
              <a:rPr lang="fr-FR" dirty="0"/>
              <a:t>Menu Accueil / Réduire le niveau de liste </a:t>
            </a:r>
            <a:r>
              <a:rPr lang="fr-FR" dirty="0">
                <a:solidFill>
                  <a:schemeClr val="bg2"/>
                </a:solidFill>
              </a:rPr>
              <a:t>(1)</a:t>
            </a:r>
          </a:p>
          <a:p>
            <a:pPr lvl="2"/>
            <a:r>
              <a:rPr lang="fr-FR" dirty="0"/>
              <a:t>Cette opération permet de passer au niveau de texte précédent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19</a:t>
            </a:fld>
            <a:endParaRPr lang="fr-F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Titre de partie</a:t>
            </a:r>
          </a:p>
          <a:p>
            <a:pPr lvl="1"/>
            <a:r>
              <a:rPr lang="fr-FR"/>
              <a:t>Sous-titre de partie</a:t>
            </a:r>
            <a:endParaRPr lang="fr-FR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1818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Couleurs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La palette de couleurs à utiliser est celle présente dans ce modèle.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Titre de partie</a:t>
            </a:r>
          </a:p>
          <a:p>
            <a:pPr lvl="1"/>
            <a:r>
              <a:rPr lang="fr-FR"/>
              <a:t>Sous-titre de partie</a:t>
            </a:r>
            <a:endParaRPr lang="fr-FR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8341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Copier / coller les textes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À partir d’une ancienne présentation</a:t>
            </a:r>
          </a:p>
          <a:p>
            <a:pPr lvl="2"/>
            <a:r>
              <a:rPr lang="fr-FR" dirty="0"/>
              <a:t>Sélectionner et copier les textes de votre ancienne présentation</a:t>
            </a:r>
          </a:p>
          <a:p>
            <a:pPr lvl="2"/>
            <a:r>
              <a:rPr lang="fr-FR" dirty="0"/>
              <a:t>Sélectionner la zone texte de la nouvelle présentation</a:t>
            </a:r>
          </a:p>
          <a:p>
            <a:pPr lvl="2"/>
            <a:r>
              <a:rPr lang="fr-FR" dirty="0"/>
              <a:t>Cliquer sur « Accueil / Coller (sélectionner la petite flèche sous l’icône Coller) / Collage spécial »</a:t>
            </a:r>
          </a:p>
          <a:p>
            <a:pPr lvl="2"/>
            <a:r>
              <a:rPr lang="fr-FR" dirty="0"/>
              <a:t>Cocher « Coller », « Texte sans mise en forme »  et « OK »</a:t>
            </a:r>
          </a:p>
          <a:p>
            <a:pPr lvl="2"/>
            <a:r>
              <a:rPr lang="fr-FR" dirty="0"/>
              <a:t>Il faut ensuite appliquer les niveaux de texte à l’aide des outils « Réduire / Augmenter le niveau de liste »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8855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Modifier les logotypes partenaires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Modifier les logotypes partenaires dans les masques :</a:t>
            </a:r>
          </a:p>
          <a:p>
            <a:pPr lvl="2"/>
            <a:r>
              <a:rPr lang="fr-FR" dirty="0"/>
              <a:t>Menu « affichage » / « Masque des diapositives »</a:t>
            </a:r>
          </a:p>
          <a:p>
            <a:pPr lvl="2"/>
            <a:r>
              <a:rPr lang="fr-FR" dirty="0"/>
              <a:t>Les remplacements de logotypes se fera sur les trois premiers masques</a:t>
            </a:r>
          </a:p>
          <a:p>
            <a:pPr lvl="3"/>
            <a:r>
              <a:rPr lang="fr-FR" dirty="0"/>
              <a:t>Masque 1 correspond aux pages 3, 4, 5 et 6</a:t>
            </a:r>
          </a:p>
          <a:p>
            <a:pPr lvl="3"/>
            <a:r>
              <a:rPr lang="fr-FR" dirty="0"/>
              <a:t>Masque 2  correspond à la page de couverture 1</a:t>
            </a:r>
          </a:p>
          <a:p>
            <a:pPr lvl="3"/>
            <a:r>
              <a:rPr lang="fr-FR" dirty="0"/>
              <a:t>Masque 3 correspond à la page de titre 2</a:t>
            </a:r>
          </a:p>
          <a:p>
            <a:pPr lvl="2"/>
            <a:r>
              <a:rPr lang="fr-FR" dirty="0"/>
              <a:t>Sélectionner l’image d’emplacement du logotype partenaire</a:t>
            </a:r>
          </a:p>
          <a:p>
            <a:pPr lvl="2"/>
            <a:r>
              <a:rPr lang="fr-FR" dirty="0"/>
              <a:t>Menu « Format » /  « Remplacer l’image »</a:t>
            </a:r>
          </a:p>
          <a:p>
            <a:pPr lvl="2"/>
            <a:r>
              <a:rPr lang="fr-FR" dirty="0"/>
              <a:t>Choisissez l’image de votre choix</a:t>
            </a:r>
          </a:p>
          <a:p>
            <a:pPr lvl="2"/>
            <a:r>
              <a:rPr lang="fr-FR" dirty="0"/>
              <a:t>Cliquer sur « Insérer »</a:t>
            </a:r>
          </a:p>
          <a:p>
            <a:pPr lvl="2"/>
            <a:r>
              <a:rPr lang="fr-FR" dirty="0"/>
              <a:t>Menu « Affichage » / « Normal »</a:t>
            </a:r>
          </a:p>
          <a:p>
            <a:pPr lvl="2"/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Méthodologie</a:t>
            </a:r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13/05/2025</a:t>
            </a:r>
            <a:endParaRPr lang="fr-FR" cap="all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23</a:t>
            </a:fld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31940" y="2787735"/>
            <a:ext cx="37830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56903"/>
      </p:ext>
    </p:extLst>
  </p:cSld>
  <p:clrMapOvr>
    <a:masterClrMapping/>
  </p:clrMapOvr>
</p:sld>
</file>

<file path=ppt/theme/theme1.xml><?xml version="1.0" encoding="utf-8"?>
<a:theme xmlns:a="http://schemas.openxmlformats.org/drawingml/2006/main" name="Masque ppt_2022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Masque ppt_2022</Template>
  <TotalTime>17001</TotalTime>
  <Words>1614</Words>
  <Application>Microsoft Office PowerPoint</Application>
  <PresentationFormat>Affichage à l'écran (16:9)</PresentationFormat>
  <Paragraphs>286</Paragraphs>
  <Slides>23</Slides>
  <Notes>0</Notes>
  <HiddenSlides>7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Marianne</vt:lpstr>
      <vt:lpstr>Masque ppt_2022</vt:lpstr>
      <vt:lpstr>Présentation PowerPoint</vt:lpstr>
      <vt:lpstr>Présentation PowerPoint</vt:lpstr>
      <vt:lpstr>Sommaire</vt:lpstr>
      <vt:lpstr>C’est quoi OSMOSE CRAKER ?</vt:lpstr>
      <vt:lpstr>a. C’est quoi OSM et OSMOSE ?</vt:lpstr>
      <vt:lpstr>b. Le Projet</vt:lpstr>
      <vt:lpstr>b. Le Projet</vt:lpstr>
      <vt:lpstr>2. Production </vt:lpstr>
      <vt:lpstr>a. Signalement</vt:lpstr>
      <vt:lpstr>b. Rapport et Code</vt:lpstr>
      <vt:lpstr>3. Résultat </vt:lpstr>
      <vt:lpstr>a. Signalement</vt:lpstr>
      <vt:lpstr>b. Limite</vt:lpstr>
      <vt:lpstr>Conclusion </vt:lpstr>
      <vt:lpstr>Présentation PowerPoint</vt:lpstr>
      <vt:lpstr>Présentation PowerPoint</vt:lpstr>
      <vt:lpstr>b. Le Projet</vt:lpstr>
      <vt:lpstr>b. Problème différence de spec</vt:lpstr>
      <vt:lpstr>Réduire / Augmenter le niveau de liste</vt:lpstr>
      <vt:lpstr>Titre</vt:lpstr>
      <vt:lpstr>Couleurs</vt:lpstr>
      <vt:lpstr>Copier / coller les textes</vt:lpstr>
      <vt:lpstr>Modifier les logotypes partenaires</vt:lpstr>
    </vt:vector>
  </TitlesOfParts>
  <Manager>Client</Manager>
  <Company>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Gabriel Bregand</dc:creator>
  <cp:lastModifiedBy>Gabriel Bregand</cp:lastModifiedBy>
  <cp:revision>126</cp:revision>
  <dcterms:created xsi:type="dcterms:W3CDTF">2023-04-20T06:59:08Z</dcterms:created>
  <dcterms:modified xsi:type="dcterms:W3CDTF">2025-06-05T12:50:37Z</dcterms:modified>
</cp:coreProperties>
</file>